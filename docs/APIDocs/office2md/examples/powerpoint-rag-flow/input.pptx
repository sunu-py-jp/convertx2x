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"/>
            <a:ext cx="10947400" cy="3810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>
                <a:solidFill>
                  <a:srgbClr val="1D59AE"/>
                </a:solidFill>
                <a:latin typeface="Noto Sans CJK JP"/>
              </a:rPr>
              <a:t>01  /  VERIFIED WORKFLOW</a:t>
            </a:r>
            <a:endParaRPr lang="ja-JP"/>
          </a:p>
        </p:txBody>
      </p:sp>
      <p:sp>
        <p:nvSpPr>
          <p:cNvPr name="TextBox 3" id="3"/>
          <p:cNvSpPr txBox="true"/>
          <p:nvPr>
            <p:ph type="title"/>
          </p:nvPr>
        </p:nvSpPr>
        <p:spPr>
          <a:xfrm>
            <a:off x="609600" y="673100"/>
            <a:ext cx="10947400" cy="6223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100" b="true">
                <a:solidFill>
                  <a:srgbClr val="182B44"/>
                </a:solidFill>
                <a:ea typeface="Noto Sans CJK JP"/>
              </a:rPr>
              <a:t>購入申請：分岐と差戻し</a:t>
            </a:r>
            <a:endParaRPr lang="ja-JP"/>
          </a:p>
        </p:txBody>
      </p:sp>
      <p:sp>
        <p:nvSpPr>
          <p:cNvPr name="TextBox 4" id="4"/>
          <p:cNvSpPr txBox="true"/>
          <p:nvPr>
            <p:ph type="ftr"/>
          </p:nvPr>
        </p:nvSpPr>
        <p:spPr>
          <a:xfrm>
            <a:off x="609600" y="6527800"/>
            <a:ext cx="10947400" cy="2286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>
                <a:solidFill>
                  <a:srgbClr val="586C83"/>
                </a:solidFill>
                <a:latin typeface="Noto Sans CJK JP"/>
              </a:rPr>
              <a:t>convertX2X  /  native editable PowerPoint  /  RAG demo</a:t>
            </a:r>
            <a:endParaRPr lang="ja-JP"/>
          </a:p>
        </p:txBody>
      </p:sp>
      <p:sp>
        <p:nvSpPr>
          <p:cNvPr name="TextBox 5" id="5"/>
          <p:cNvSpPr txBox="true"/>
          <p:nvPr/>
        </p:nvSpPr>
        <p:spPr>
          <a:xfrm>
            <a:off x="609600" y="1384300"/>
            <a:ext cx="10947400" cy="5080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586C83"/>
                </a:solidFill>
                <a:ea typeface="Noto Sans CJK JP"/>
              </a:rPr>
              <a:t>条件は図形内に記載。保存された接続情報から処理の関係を取り出します。</a:t>
            </a:r>
            <a:endParaRPr lang="ja-JP"/>
          </a:p>
        </p:txBody>
      </p:sp>
      <p:sp>
        <p:nvSpPr>
          <p:cNvPr name="AutoShape 6" id="6"/>
          <p:cNvSpPr/>
          <p:nvPr/>
        </p:nvSpPr>
        <p:spPr>
          <a:xfrm>
            <a:off x="609600" y="2311400"/>
            <a:ext cx="1955800" cy="1016000"/>
          </a:xfrm>
          <a:prstGeom prst="roundRect">
            <a:avLst/>
          </a:prstGeom>
          <a:solidFill>
            <a:srgbClr val="E5F0FF"/>
          </a:solidFill>
          <a:ln w="22860">
            <a:solidFill>
              <a:srgbClr val="1D59AE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申請者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購入申請を作成</a:t>
            </a:r>
          </a:p>
        </p:txBody>
      </p:sp>
      <p:sp>
        <p:nvSpPr>
          <p:cNvPr name="AutoShape 7" id="7"/>
          <p:cNvSpPr/>
          <p:nvPr/>
        </p:nvSpPr>
        <p:spPr>
          <a:xfrm>
            <a:off x="3302000" y="2311400"/>
            <a:ext cx="1955800" cy="1016000"/>
          </a:xfrm>
          <a:prstGeom prst="roundRect">
            <a:avLst/>
          </a:prstGeom>
          <a:solidFill>
            <a:srgbClr val="E5F0FF"/>
          </a:solidFill>
          <a:ln w="22860">
            <a:solidFill>
              <a:srgbClr val="1D59AE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上長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申請内容を確認</a:t>
            </a:r>
          </a:p>
        </p:txBody>
      </p:sp>
      <p:sp>
        <p:nvSpPr>
          <p:cNvPr name="AutoShape 8" id="8"/>
          <p:cNvSpPr/>
          <p:nvPr/>
        </p:nvSpPr>
        <p:spPr>
          <a:xfrm>
            <a:off x="5994400" y="1803400"/>
            <a:ext cx="2286000" cy="1016000"/>
          </a:xfrm>
          <a:prstGeom prst="roundRect">
            <a:avLst/>
          </a:prstGeom>
          <a:solidFill>
            <a:srgbClr val="E0F6EF"/>
          </a:solidFill>
          <a:ln w="22860">
            <a:solidFill>
              <a:srgbClr val="0A756F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承認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latin typeface="Noto Sans CJK JP"/>
              </a:rPr>
              <a:t>10万円以下</a:t>
            </a:r>
          </a:p>
        </p:txBody>
      </p:sp>
      <p:sp>
        <p:nvSpPr>
          <p:cNvPr name="AutoShape 9" id="9"/>
          <p:cNvSpPr/>
          <p:nvPr/>
        </p:nvSpPr>
        <p:spPr>
          <a:xfrm>
            <a:off x="9321800" y="2311400"/>
            <a:ext cx="2235200" cy="1016000"/>
          </a:xfrm>
          <a:prstGeom prst="roundRect">
            <a:avLst/>
          </a:prstGeom>
          <a:solidFill>
            <a:srgbClr val="E0F6EF"/>
          </a:solidFill>
          <a:ln w="22860">
            <a:solidFill>
              <a:srgbClr val="0A756F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購買担当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発注を確定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302000" y="4318000"/>
            <a:ext cx="2286000" cy="1016000"/>
          </a:xfrm>
          <a:prstGeom prst="roundRect">
            <a:avLst/>
          </a:prstGeom>
          <a:solidFill>
            <a:srgbClr val="FFF1DE"/>
          </a:solidFill>
          <a:ln w="22860">
            <a:solidFill>
              <a:srgbClr val="A65314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差戻し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記載に不備あり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09600" y="4318000"/>
            <a:ext cx="1955800" cy="1016000"/>
          </a:xfrm>
          <a:prstGeom prst="roundRect">
            <a:avLst/>
          </a:prstGeom>
          <a:solidFill>
            <a:srgbClr val="FFF1DE"/>
          </a:solidFill>
          <a:ln w="22860">
            <a:solidFill>
              <a:srgbClr val="A65314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申請者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修正して再申請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994400" y="4318000"/>
            <a:ext cx="2286000" cy="1016000"/>
          </a:xfrm>
          <a:prstGeom prst="roundRect">
            <a:avLst/>
          </a:prstGeom>
          <a:solidFill>
            <a:srgbClr val="F2EBFF"/>
          </a:solidFill>
          <a:ln w="22860">
            <a:solidFill>
              <a:srgbClr val="6648A9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部長確認へ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latin typeface="Noto Sans CJK JP"/>
              </a:rPr>
              <a:t>10万円超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321800" y="4318000"/>
            <a:ext cx="2235200" cy="1016000"/>
          </a:xfrm>
          <a:prstGeom prst="roundRect">
            <a:avLst/>
          </a:prstGeom>
          <a:solidFill>
            <a:srgbClr val="F2EBFF"/>
          </a:solidFill>
          <a:ln w="22860">
            <a:solidFill>
              <a:srgbClr val="6648A9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部長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追加承認を記録</a:t>
            </a:r>
          </a:p>
        </p:txBody>
      </p:sp>
      <p:cxnSp>
        <p:nvCxnSpPr>
          <p:cNvPr name="Connector 14" id="14"/>
          <p:cNvCxnSpPr>
            <a:stCxn id="6" idx="3"/>
            <a:endCxn id="7" idx="1"/>
          </p:cNvCxnSpPr>
          <p:nvPr/>
        </p:nvCxnSpPr>
        <p:spPr>
          <a:xfrm flipH="false" flipV="false">
            <a:off x="2565400" y="2819400"/>
            <a:ext cx="736600" cy="0"/>
          </a:xfrm>
          <a:prstGeom prst="line">
            <a:avLst/>
          </a:prstGeom>
          <a:ln w="29210">
            <a:solidFill>
              <a:srgbClr val="1D59AE"/>
            </a:solidFill>
            <a:headEnd type="none" len="med" w="med"/>
            <a:tailEnd type="triangle" len="med" w="med"/>
          </a:ln>
        </p:spPr>
      </p:cxnSp>
      <p:cxnSp>
        <p:nvCxnSpPr>
          <p:cNvPr name="Connector 15" id="15"/>
          <p:cNvCxnSpPr>
            <a:stCxn id="7" idx="3"/>
            <a:endCxn id="8" idx="1"/>
          </p:cNvCxnSpPr>
          <p:nvPr/>
        </p:nvCxnSpPr>
        <p:spPr>
          <a:xfrm flipH="false" flipV="true">
            <a:off x="5257800" y="2311400"/>
            <a:ext cx="736600" cy="508000"/>
          </a:xfrm>
          <a:prstGeom prst="line">
            <a:avLst/>
          </a:prstGeom>
          <a:ln w="29210">
            <a:solidFill>
              <a:srgbClr val="0A756F"/>
            </a:solidFill>
            <a:headEnd type="none" len="med" w="med"/>
            <a:tailEnd type="triangle" len="med" w="med"/>
          </a:ln>
        </p:spPr>
      </p:cxnSp>
      <p:cxnSp>
        <p:nvCxnSpPr>
          <p:cNvPr name="Connector 16" id="16"/>
          <p:cNvCxnSpPr>
            <a:stCxn id="8" idx="3"/>
            <a:endCxn id="9" idx="1"/>
          </p:cNvCxnSpPr>
          <p:nvPr/>
        </p:nvCxnSpPr>
        <p:spPr>
          <a:xfrm flipH="false" flipV="false">
            <a:off x="8280400" y="2311400"/>
            <a:ext cx="1041400" cy="508000"/>
          </a:xfrm>
          <a:prstGeom prst="line">
            <a:avLst/>
          </a:prstGeom>
          <a:ln w="29210">
            <a:solidFill>
              <a:srgbClr val="0A756F"/>
            </a:solidFill>
            <a:headEnd type="none" len="med" w="med"/>
            <a:tailEnd type="triangle" len="med" w="med"/>
          </a:ln>
        </p:spPr>
      </p:cxnSp>
      <p:cxnSp>
        <p:nvCxnSpPr>
          <p:cNvPr name="Connector 17" id="17"/>
          <p:cNvCxnSpPr>
            <a:stCxn id="7" idx="2"/>
            <a:endCxn id="10" idx="0"/>
          </p:cNvCxnSpPr>
          <p:nvPr/>
        </p:nvCxnSpPr>
        <p:spPr>
          <a:xfrm flipH="false" flipV="false">
            <a:off x="4279900" y="3327400"/>
            <a:ext cx="165100" cy="990600"/>
          </a:xfrm>
          <a:prstGeom prst="line">
            <a:avLst/>
          </a:prstGeom>
          <a:ln w="29210">
            <a:solidFill>
              <a:srgbClr val="A65314"/>
            </a:solidFill>
            <a:headEnd type="none" len="med" w="med"/>
            <a:tailEnd type="triangle" len="med" w="med"/>
          </a:ln>
        </p:spPr>
      </p:cxnSp>
      <p:cxnSp>
        <p:nvCxnSpPr>
          <p:cNvPr name="Connector 18" id="18"/>
          <p:cNvCxnSpPr>
            <a:stCxn id="10" idx="1"/>
            <a:endCxn id="11" idx="3"/>
          </p:cNvCxnSpPr>
          <p:nvPr/>
        </p:nvCxnSpPr>
        <p:spPr>
          <a:xfrm flipH="true" flipV="false">
            <a:off x="2565400" y="4826000"/>
            <a:ext cx="736600" cy="0"/>
          </a:xfrm>
          <a:prstGeom prst="line">
            <a:avLst/>
          </a:prstGeom>
          <a:ln w="29210">
            <a:solidFill>
              <a:srgbClr val="A65314"/>
            </a:solidFill>
            <a:headEnd type="none" len="med" w="med"/>
            <a:tailEnd type="triangle" len="med" w="med"/>
          </a:ln>
        </p:spPr>
      </p:cxnSp>
      <p:cxnSp>
        <p:nvCxnSpPr>
          <p:cNvPr name="Connector 19" id="19"/>
          <p:cNvCxnSpPr>
            <a:stCxn id="11" idx="0"/>
            <a:endCxn id="6" idx="2"/>
          </p:cNvCxnSpPr>
          <p:nvPr/>
        </p:nvCxnSpPr>
        <p:spPr>
          <a:xfrm flipH="false" flipV="true">
            <a:off x="1587500" y="3327400"/>
            <a:ext cx="0" cy="990600"/>
          </a:xfrm>
          <a:prstGeom prst="line">
            <a:avLst/>
          </a:prstGeom>
          <a:ln w="29210">
            <a:solidFill>
              <a:srgbClr val="A65314"/>
            </a:solidFill>
            <a:headEnd type="none" len="med" w="med"/>
            <a:tailEnd type="triangle" len="med" w="med"/>
          </a:ln>
        </p:spPr>
      </p:cxnSp>
      <p:cxnSp>
        <p:nvCxnSpPr>
          <p:cNvPr name="Connector 20" id="20"/>
          <p:cNvCxnSpPr>
            <a:stCxn id="7" idx="3"/>
            <a:endCxn id="12" idx="1"/>
          </p:cNvCxnSpPr>
          <p:nvPr/>
        </p:nvCxnSpPr>
        <p:spPr>
          <a:xfrm flipH="false" flipV="false">
            <a:off x="5257800" y="2819400"/>
            <a:ext cx="736600" cy="2006600"/>
          </a:xfrm>
          <a:prstGeom prst="line">
            <a:avLst/>
          </a:prstGeom>
          <a:ln w="29210">
            <a:solidFill>
              <a:srgbClr val="6648A9"/>
            </a:solidFill>
            <a:headEnd type="none" len="med" w="med"/>
            <a:tailEnd type="triangle" len="med" w="med"/>
          </a:ln>
        </p:spPr>
      </p:cxnSp>
      <p:cxnSp>
        <p:nvCxnSpPr>
          <p:cNvPr name="Connector 21" id="21"/>
          <p:cNvCxnSpPr>
            <a:stCxn id="12" idx="3"/>
            <a:endCxn id="13" idx="1"/>
          </p:cNvCxnSpPr>
          <p:nvPr/>
        </p:nvCxnSpPr>
        <p:spPr>
          <a:xfrm flipH="false" flipV="false">
            <a:off x="8280400" y="4826000"/>
            <a:ext cx="1041400" cy="0"/>
          </a:xfrm>
          <a:prstGeom prst="line">
            <a:avLst/>
          </a:prstGeom>
          <a:ln w="29210">
            <a:solidFill>
              <a:srgbClr val="6648A9"/>
            </a:solidFill>
            <a:headEnd type="none" len="med" w="med"/>
            <a:tailEnd type="triangle" len="med" w="med"/>
          </a:ln>
        </p:spPr>
      </p:cxnSp>
      <p:cxnSp>
        <p:nvCxnSpPr>
          <p:cNvPr name="Connector 22" id="22"/>
          <p:cNvCxnSpPr>
            <a:stCxn id="13" idx="0"/>
            <a:endCxn id="9" idx="2"/>
          </p:cNvCxnSpPr>
          <p:nvPr/>
        </p:nvCxnSpPr>
        <p:spPr>
          <a:xfrm flipH="false" flipV="true">
            <a:off x="10439400" y="3327400"/>
            <a:ext cx="0" cy="990600"/>
          </a:xfrm>
          <a:prstGeom prst="line">
            <a:avLst/>
          </a:prstGeom>
          <a:ln w="29210">
            <a:solidFill>
              <a:srgbClr val="6648A9"/>
            </a:solidFill>
            <a:headEnd type="none" len="med" w="med"/>
            <a:tailEnd type="triangle" len="med" w="med"/>
          </a:ln>
        </p:spPr>
      </p:cxnSp>
      <p:sp>
        <p:nvSpPr>
          <p:cNvPr name="TextBox 23" id="23"/>
          <p:cNvSpPr txBox="true"/>
          <p:nvPr/>
        </p:nvSpPr>
        <p:spPr>
          <a:xfrm>
            <a:off x="609600" y="5892800"/>
            <a:ext cx="10947400" cy="5461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>
                <a:solidFill>
                  <a:srgbClr val="586C83"/>
                </a:solidFill>
                <a:latin typeface="Noto Sans CJK JP"/>
              </a:rPr>
              <a:t>RAGで検索したいこと：少額購入の承認経路／高額購入の追加承認／不備時の戻り先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"/>
            <a:ext cx="10947400" cy="3810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>
                <a:solidFill>
                  <a:srgbClr val="1D59AE"/>
                </a:solidFill>
                <a:latin typeface="Noto Sans CJK JP"/>
              </a:rPr>
              <a:t>02  /  DIRECTION &amp; GROUPS</a:t>
            </a:r>
            <a:endParaRPr lang="ja-JP"/>
          </a:p>
        </p:txBody>
      </p:sp>
      <p:sp>
        <p:nvSpPr>
          <p:cNvPr name="TextBox 3" id="3"/>
          <p:cNvSpPr txBox="true"/>
          <p:nvPr>
            <p:ph type="title"/>
          </p:nvPr>
        </p:nvSpPr>
        <p:spPr>
          <a:xfrm>
            <a:off x="609600" y="673100"/>
            <a:ext cx="10947400" cy="6223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100" b="true">
                <a:solidFill>
                  <a:srgbClr val="182B44"/>
                </a:solidFill>
                <a:ea typeface="Noto Sans CJK JP"/>
              </a:rPr>
              <a:t>グループ・双方向・始点の矢印</a:t>
            </a:r>
            <a:endParaRPr lang="ja-JP"/>
          </a:p>
        </p:txBody>
      </p:sp>
      <p:sp>
        <p:nvSpPr>
          <p:cNvPr name="TextBox 4" id="4"/>
          <p:cNvSpPr txBox="true"/>
          <p:nvPr>
            <p:ph type="ftr"/>
          </p:nvPr>
        </p:nvSpPr>
        <p:spPr>
          <a:xfrm>
            <a:off x="609600" y="6527800"/>
            <a:ext cx="10947400" cy="2286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>
                <a:solidFill>
                  <a:srgbClr val="586C83"/>
                </a:solidFill>
                <a:latin typeface="Noto Sans CJK JP"/>
              </a:rPr>
              <a:t>convertX2X  /  native editable PowerPoint  /  RAG demo</a:t>
            </a:r>
            <a:endParaRPr lang="ja-JP"/>
          </a:p>
        </p:txBody>
      </p:sp>
      <p:sp>
        <p:nvSpPr>
          <p:cNvPr name="TextBox 5" id="5"/>
          <p:cNvSpPr txBox="true"/>
          <p:nvPr/>
        </p:nvSpPr>
        <p:spPr>
          <a:xfrm>
            <a:off x="609600" y="1384300"/>
            <a:ext cx="10947400" cy="5334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586C83"/>
                </a:solidFill>
                <a:ea typeface="Noto Sans CJK JP"/>
              </a:rPr>
              <a:t>グループ内外の接続を保持し、矢印がどちらの端に付いているかも区別します。</a:t>
            </a:r>
            <a:endParaRPr lang="ja-JP"/>
          </a:p>
        </p:txBody>
      </p:sp>
      <p:sp>
        <p:nvSpPr>
          <p:cNvPr name="TextBox 6" id="6"/>
          <p:cNvSpPr txBox="true"/>
          <p:nvPr/>
        </p:nvSpPr>
        <p:spPr>
          <a:xfrm>
            <a:off x="609600" y="2159000"/>
            <a:ext cx="7048500" cy="4826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1D59AE"/>
                </a:solidFill>
                <a:ea typeface="Noto Sans CJK JP"/>
              </a:rPr>
              <a:t>社内の確認グループ</a:t>
            </a:r>
            <a:endParaRPr lang="ja-JP"/>
          </a:p>
        </p:txBody>
      </p:sp>
      <p:sp>
        <p:nvSpPr>
          <p:cNvPr name="TextBox 7" id="7"/>
          <p:cNvSpPr txBox="true"/>
          <p:nvPr/>
        </p:nvSpPr>
        <p:spPr>
          <a:xfrm>
            <a:off x="8966200" y="2159000"/>
            <a:ext cx="2590800" cy="4826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0A756F"/>
                </a:solidFill>
                <a:ea typeface="Noto Sans CJK JP"/>
              </a:rPr>
              <a:t>連携先</a:t>
            </a:r>
            <a:endParaRPr lang="ja-JP"/>
          </a:p>
        </p:txBody>
      </p:sp>
      <p:grpSp>
        <p:nvGrpSpPr>
          <p:cNvPr name="Group 8" id="8"/>
          <p:cNvGrpSpPr/>
          <p:nvPr/>
        </p:nvGrpSpPr>
        <p:grpSpPr>
          <a:xfrm>
            <a:off x="609600" y="2857500"/>
            <a:ext cx="7175500" cy="2552700"/>
            <a:chOff x="0" y="0"/>
            <a:chExt cx="7175500" cy="2552700"/>
          </a:xfrm>
        </p:grpSpPr>
        <p:sp>
          <p:nvSpPr>
            <p:cNvPr name="AutoShape 9" id="9"/>
            <p:cNvSpPr/>
            <p:nvPr/>
          </p:nvSpPr>
          <p:spPr>
            <a:xfrm>
              <a:off x="0" y="0"/>
              <a:ext cx="2413000" cy="1117600"/>
            </a:xfrm>
            <a:prstGeom prst="roundRect">
              <a:avLst/>
            </a:prstGeom>
            <a:solidFill>
              <a:srgbClr val="E5F0FF"/>
            </a:solidFill>
            <a:ln w="22860">
              <a:solidFill>
                <a:srgbClr val="1D59AE"/>
              </a:solidFill>
            </a:ln>
          </p:spPr>
          <p:txBody>
            <a:bodyPr anchor="ctr" rtlCol="false" lIns="101600" rIns="101600" tIns="50800" bIns="50800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b="true">
                  <a:solidFill>
                    <a:srgbClr val="182B44"/>
                  </a:solidFill>
                  <a:ea typeface="Noto Sans CJK JP"/>
                </a:rPr>
                <a:t>開発</a:t>
              </a: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1800" b="false">
                  <a:solidFill>
                    <a:srgbClr val="182B44"/>
                  </a:solidFill>
                  <a:ea typeface="Noto Sans CJK JP"/>
                </a:rPr>
                <a:t>連携データを作成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4381500" y="0"/>
              <a:ext cx="2413000" cy="1117600"/>
            </a:xfrm>
            <a:prstGeom prst="roundRect">
              <a:avLst/>
            </a:prstGeom>
            <a:solidFill>
              <a:srgbClr val="E5F0FF"/>
            </a:solidFill>
            <a:ln w="22860">
              <a:solidFill>
                <a:srgbClr val="1D59AE"/>
              </a:solidFill>
            </a:ln>
          </p:spPr>
          <p:txBody>
            <a:bodyPr anchor="ctr" rtlCol="false" lIns="101600" rIns="101600" tIns="50800" bIns="50800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b="true">
                  <a:solidFill>
                    <a:srgbClr val="182B44"/>
                  </a:solidFill>
                  <a:ea typeface="Noto Sans CJK JP"/>
                </a:rPr>
                <a:t>審査</a:t>
              </a:r>
            </a:p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1800" b="false">
                  <a:solidFill>
                    <a:srgbClr val="182B44"/>
                  </a:solidFill>
                  <a:ea typeface="Noto Sans CJK JP"/>
                </a:rPr>
                <a:t>内容を確認</a:t>
              </a:r>
            </a:p>
          </p:txBody>
        </p:sp>
        <p:cxnSp>
          <p:nvCxnSpPr>
            <p:cNvPr name="Connector 11" id="11"/>
            <p:cNvCxnSpPr>
              <a:stCxn id="9" idx="3"/>
              <a:endCxn id="10" idx="1"/>
            </p:cNvCxnSpPr>
            <p:nvPr/>
          </p:nvCxnSpPr>
          <p:spPr>
            <a:xfrm flipH="false" flipV="false">
              <a:off x="2413000" y="558800"/>
              <a:ext cx="1968500" cy="0"/>
            </a:xfrm>
            <a:prstGeom prst="line">
              <a:avLst/>
            </a:prstGeom>
            <a:ln w="29210">
              <a:solidFill>
                <a:srgbClr val="1D59AE"/>
              </a:solidFill>
              <a:headEnd type="triangle" len="med" w="med"/>
              <a:tailEnd type="triangle" len="med" w="med"/>
            </a:ln>
          </p:spPr>
        </p:cxnSp>
        <p:sp>
          <p:nvSpPr>
            <p:cNvPr name="TextBox 12" id="12"/>
            <p:cNvSpPr txBox="true"/>
            <p:nvPr/>
          </p:nvSpPr>
          <p:spPr>
            <a:xfrm>
              <a:off x="0" y="1765300"/>
              <a:ext cx="7086600" cy="685800"/>
            </a:xfrm>
            <a:prstGeom prst="rect">
              <a:avLst/>
            </a:prstGeom>
          </p:spPr>
          <p:txBody>
            <a:bodyPr anchor="ctr" rtlCol="false" lIns="0" rIns="0" tIns="0" bIns="0"/>
            <a:lstStyle/>
            <a:p>
              <a:pPr algn="l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700" b="false">
                  <a:solidFill>
                    <a:srgbClr val="586C83"/>
                  </a:solidFill>
                  <a:ea typeface="Noto Sans CJK JP"/>
                </a:rPr>
                <a:t>補足：双方向の確認。担当者との連絡は別途行います。</a:t>
              </a:r>
              <a:endParaRPr lang="ja-JP"/>
            </a:p>
          </p:txBody>
        </p:sp>
      </p:grpSp>
      <p:sp>
        <p:nvSpPr>
          <p:cNvPr name="AutoShape 13" id="13"/>
          <p:cNvSpPr/>
          <p:nvPr/>
        </p:nvSpPr>
        <p:spPr>
          <a:xfrm>
            <a:off x="8966200" y="2857500"/>
            <a:ext cx="2590800" cy="1117600"/>
          </a:xfrm>
          <a:prstGeom prst="roundRect">
            <a:avLst/>
          </a:prstGeom>
          <a:solidFill>
            <a:srgbClr val="E0F6EF"/>
          </a:solidFill>
          <a:ln w="22860">
            <a:solidFill>
              <a:srgbClr val="0A756F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受信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連携結果を受領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966200" y="4648200"/>
            <a:ext cx="2590800" cy="914400"/>
          </a:xfrm>
          <a:prstGeom prst="roundRect">
            <a:avLst/>
          </a:prstGeom>
          <a:solidFill>
            <a:srgbClr val="FFF1DE"/>
          </a:solidFill>
          <a:ln w="22860">
            <a:solidFill>
              <a:srgbClr val="A65314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再送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保留データを送信</a:t>
            </a:r>
          </a:p>
        </p:txBody>
      </p:sp>
      <p:cxnSp>
        <p:nvCxnSpPr>
          <p:cNvPr name="Connector 15" id="15"/>
          <p:cNvCxnSpPr>
            <a:stCxn id="10" idx="3"/>
            <a:endCxn id="13" idx="1"/>
          </p:cNvCxnSpPr>
          <p:nvPr/>
        </p:nvCxnSpPr>
        <p:spPr>
          <a:xfrm flipH="false" flipV="false">
            <a:off x="7404100" y="3416300"/>
            <a:ext cx="1562100" cy="0"/>
          </a:xfrm>
          <a:prstGeom prst="line">
            <a:avLst/>
          </a:prstGeom>
          <a:ln w="29210">
            <a:solidFill>
              <a:srgbClr val="0A756F"/>
            </a:solidFill>
            <a:headEnd type="none" len="med" w="med"/>
            <a:tailEnd type="triangle" len="med" w="med"/>
          </a:ln>
        </p:spPr>
      </p:cxnSp>
      <p:cxnSp>
        <p:nvCxnSpPr>
          <p:cNvPr name="Connector 16" id="16"/>
          <p:cNvCxnSpPr>
            <a:stCxn id="13" idx="2"/>
            <a:endCxn id="14" idx="0"/>
          </p:cNvCxnSpPr>
          <p:nvPr/>
        </p:nvCxnSpPr>
        <p:spPr>
          <a:xfrm flipH="false" flipV="false">
            <a:off x="10261600" y="3975100"/>
            <a:ext cx="0" cy="673100"/>
          </a:xfrm>
          <a:prstGeom prst="line">
            <a:avLst/>
          </a:prstGeom>
          <a:ln w="29210">
            <a:solidFill>
              <a:srgbClr val="A65314"/>
            </a:solidFill>
            <a:headEnd type="triangle" len="med" w="med"/>
            <a:tailEnd type="none" len="med" w="med"/>
          </a:ln>
        </p:spPr>
      </p:cxnSp>
      <p:sp>
        <p:nvSpPr>
          <p:cNvPr name="TextBox 17" id="17"/>
          <p:cNvSpPr txBox="true"/>
          <p:nvPr/>
        </p:nvSpPr>
        <p:spPr>
          <a:xfrm>
            <a:off x="609600" y="5892800"/>
            <a:ext cx="10947400" cy="5461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>
                <a:solidFill>
                  <a:srgbClr val="586C83"/>
                </a:solidFill>
                <a:ea typeface="Noto Sans CJK JP"/>
              </a:rPr>
              <a:t>検証点：開発と審査は双方向／審査から受信へ接続／下の再送から上の受信へ矢印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"/>
            <a:ext cx="10947400" cy="3810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>
                <a:solidFill>
                  <a:srgbClr val="1D59AE"/>
                </a:solidFill>
                <a:latin typeface="Noto Sans CJK JP"/>
              </a:rPr>
              <a:t>03  /  EVIDENCE BEFORE INFERENCE</a:t>
            </a:r>
            <a:endParaRPr lang="ja-JP"/>
          </a:p>
        </p:txBody>
      </p:sp>
      <p:sp>
        <p:nvSpPr>
          <p:cNvPr name="TextBox 3" id="3"/>
          <p:cNvSpPr txBox="true"/>
          <p:nvPr>
            <p:ph type="title"/>
          </p:nvPr>
        </p:nvSpPr>
        <p:spPr>
          <a:xfrm>
            <a:off x="609600" y="673100"/>
            <a:ext cx="10947400" cy="6223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100" b="true">
                <a:solidFill>
                  <a:srgbClr val="182B44"/>
                </a:solidFill>
                <a:ea typeface="Noto Sans CJK JP"/>
              </a:rPr>
              <a:t>つながりを推測しない</a:t>
            </a:r>
            <a:endParaRPr lang="ja-JP"/>
          </a:p>
        </p:txBody>
      </p:sp>
      <p:sp>
        <p:nvSpPr>
          <p:cNvPr name="TextBox 4" id="4"/>
          <p:cNvSpPr txBox="true"/>
          <p:nvPr>
            <p:ph type="ftr"/>
          </p:nvPr>
        </p:nvSpPr>
        <p:spPr>
          <a:xfrm>
            <a:off x="609600" y="6527800"/>
            <a:ext cx="10947400" cy="2286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>
                <a:solidFill>
                  <a:srgbClr val="586C83"/>
                </a:solidFill>
                <a:latin typeface="Noto Sans CJK JP"/>
              </a:rPr>
              <a:t>convertX2X  /  native editable PowerPoint  /  RAG demo</a:t>
            </a:r>
            <a:endParaRPr lang="ja-JP"/>
          </a:p>
        </p:txBody>
      </p:sp>
      <p:sp>
        <p:nvSpPr>
          <p:cNvPr name="TextBox 5" id="5"/>
          <p:cNvSpPr txBox="true"/>
          <p:nvPr/>
        </p:nvSpPr>
        <p:spPr>
          <a:xfrm>
            <a:off x="609600" y="1384300"/>
            <a:ext cx="10947400" cy="5334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586C83"/>
                </a:solidFill>
                <a:ea typeface="Noto Sans CJK JP"/>
              </a:rPr>
              <a:t>接続先が保存されていない矢印や、近くの独立ラベルから関係を作りません。</a:t>
            </a:r>
            <a:endParaRPr lang="ja-JP"/>
          </a:p>
        </p:txBody>
      </p:sp>
      <p:sp>
        <p:nvSpPr>
          <p:cNvPr name="AutoShape 6" id="6"/>
          <p:cNvSpPr/>
          <p:nvPr/>
        </p:nvSpPr>
        <p:spPr>
          <a:xfrm>
            <a:off x="825500" y="2514600"/>
            <a:ext cx="2286000" cy="1016000"/>
          </a:xfrm>
          <a:prstGeom prst="roundRect">
            <a:avLst/>
          </a:prstGeom>
          <a:solidFill>
            <a:srgbClr val="E5F0FF"/>
          </a:solidFill>
          <a:ln w="22860">
            <a:solidFill>
              <a:srgbClr val="1D59AE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受付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申請を受領</a:t>
            </a:r>
          </a:p>
        </p:txBody>
      </p:sp>
      <p:sp>
        <p:nvSpPr>
          <p:cNvPr name="AutoShape 7" id="7"/>
          <p:cNvSpPr/>
          <p:nvPr/>
        </p:nvSpPr>
        <p:spPr>
          <a:xfrm>
            <a:off x="4953000" y="2514600"/>
            <a:ext cx="2286000" cy="1016000"/>
          </a:xfrm>
          <a:prstGeom prst="roundRect">
            <a:avLst/>
          </a:prstGeom>
          <a:solidFill>
            <a:srgbClr val="E5F0FF"/>
          </a:solidFill>
          <a:ln w="22860">
            <a:solidFill>
              <a:srgbClr val="1D59AE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担当者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内容を確認</a:t>
            </a:r>
          </a:p>
        </p:txBody>
      </p:sp>
      <p:sp>
        <p:nvSpPr>
          <p:cNvPr name="AutoShape 8" id="8"/>
          <p:cNvSpPr/>
          <p:nvPr/>
        </p:nvSpPr>
        <p:spPr>
          <a:xfrm>
            <a:off x="9080500" y="2514600"/>
            <a:ext cx="2286000" cy="1016000"/>
          </a:xfrm>
          <a:prstGeom prst="roundRect">
            <a:avLst/>
          </a:prstGeom>
          <a:solidFill>
            <a:srgbClr val="E0F6EF"/>
          </a:solidFill>
          <a:ln w="22860">
            <a:solidFill>
              <a:srgbClr val="0A756F"/>
            </a:solidFill>
          </a:ln>
        </p:spPr>
        <p:txBody>
          <a:bodyPr anchor="ctr" rtlCol="false" lIns="101600" rIns="101600" tIns="50800" bIns="50800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>
                <a:solidFill>
                  <a:srgbClr val="182B44"/>
                </a:solidFill>
                <a:ea typeface="Noto Sans CJK JP"/>
              </a:rPr>
              <a:t>処理完了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記録を保存</a:t>
            </a:r>
          </a:p>
        </p:txBody>
      </p:sp>
      <p:cxnSp>
        <p:nvCxnSpPr>
          <p:cNvPr name="Connector 9" id="9"/>
          <p:cNvCxnSpPr/>
          <p:nvPr/>
        </p:nvCxnSpPr>
        <p:spPr>
          <a:xfrm flipH="false" flipV="false">
            <a:off x="3225800" y="3022600"/>
            <a:ext cx="1600200" cy="0"/>
          </a:xfrm>
          <a:prstGeom prst="line">
            <a:avLst/>
          </a:prstGeom>
          <a:ln w="29210">
            <a:solidFill>
              <a:srgbClr val="586C83"/>
            </a:solidFill>
            <a:headEnd type="none" len="med" w="med"/>
            <a:tailEnd type="triangle" len="med" w="med"/>
          </a:ln>
        </p:spPr>
      </p:cxnSp>
      <p:cxnSp>
        <p:nvCxnSpPr>
          <p:cNvPr name="Connector 10" id="10"/>
          <p:cNvCxnSpPr>
            <a:stCxn id="7" idx="3"/>
            <a:endCxn id="8" idx="1"/>
          </p:cNvCxnSpPr>
          <p:nvPr/>
        </p:nvCxnSpPr>
        <p:spPr>
          <a:xfrm flipH="false" flipV="false">
            <a:off x="7239000" y="3022600"/>
            <a:ext cx="1841500" cy="0"/>
          </a:xfrm>
          <a:prstGeom prst="line">
            <a:avLst/>
          </a:prstGeom>
          <a:ln w="29210">
            <a:solidFill>
              <a:srgbClr val="0A756F"/>
            </a:solidFill>
            <a:headEnd type="none" len="med" w="med"/>
            <a:tailEnd type="triangle" len="med" w="med"/>
          </a:ln>
        </p:spPr>
      </p:cxnSp>
      <p:sp>
        <p:nvSpPr>
          <p:cNvPr name="TextBox 11" id="11"/>
          <p:cNvSpPr txBox="true"/>
          <p:nvPr/>
        </p:nvSpPr>
        <p:spPr>
          <a:xfrm>
            <a:off x="3517900" y="2146300"/>
            <a:ext cx="1066800" cy="4572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A65314"/>
                </a:solidFill>
                <a:ea typeface="Noto Sans CJK JP"/>
              </a:rPr>
              <a:t>承認</a:t>
            </a:r>
            <a:endParaRPr lang="ja-JP"/>
          </a:p>
        </p:txBody>
      </p:sp>
      <p:sp>
        <p:nvSpPr>
          <p:cNvPr name="TextBox 12" id="12"/>
          <p:cNvSpPr txBox="true"/>
          <p:nvPr/>
        </p:nvSpPr>
        <p:spPr>
          <a:xfrm>
            <a:off x="7670800" y="2146300"/>
            <a:ext cx="1041400" cy="4572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A65314"/>
                </a:solidFill>
                <a:ea typeface="Noto Sans CJK JP"/>
              </a:rPr>
              <a:t>至急</a:t>
            </a:r>
            <a:endParaRPr lang="ja-JP"/>
          </a:p>
        </p:txBody>
      </p:sp>
      <p:sp>
        <p:nvSpPr>
          <p:cNvPr name="TextBox 13" id="13"/>
          <p:cNvSpPr txBox="true"/>
          <p:nvPr/>
        </p:nvSpPr>
        <p:spPr>
          <a:xfrm>
            <a:off x="825500" y="3708400"/>
            <a:ext cx="4635500" cy="4572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>
                <a:solidFill>
                  <a:srgbClr val="586C83"/>
                </a:solidFill>
                <a:ea typeface="Noto Sans CJK JP"/>
              </a:rPr>
              <a:t>左の矢印：接続先IDなし</a:t>
            </a:r>
            <a:endParaRPr lang="ja-JP"/>
          </a:p>
        </p:txBody>
      </p:sp>
      <p:sp>
        <p:nvSpPr>
          <p:cNvPr name="TextBox 14" id="14"/>
          <p:cNvSpPr txBox="true"/>
          <p:nvPr/>
        </p:nvSpPr>
        <p:spPr>
          <a:xfrm>
            <a:off x="5829300" y="3708400"/>
            <a:ext cx="5588000" cy="4572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>
                <a:solidFill>
                  <a:srgbClr val="586C83"/>
                </a:solidFill>
                <a:ea typeface="Noto Sans CJK JP"/>
              </a:rPr>
              <a:t>右の矢印：接続先IDあり／「至急」は独立ラベル</a:t>
            </a:r>
            <a:endParaRPr lang="ja-JP"/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825500" y="4445000"/>
          <a:ext cx="6731000" cy="1371600"/>
        </p:xfrm>
        <a:graphic>
          <a:graphicData uri="http://schemas.openxmlformats.org/drawingml/2006/table">
            <a:tbl>
              <a:tblPr firstRow="true"/>
              <a:tblGrid>
                <a:gridCol w="2857500"/>
                <a:gridCol w="3873500"/>
              </a:tblGrid>
              <a:tr h="457200">
                <a:tc>
                  <a:txBody>
                    <a:bodyPr anchor="t" rtlCol="false"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ea typeface="Noto Sans CJK JP"/>
                        </a:rPr>
                        <a:t>情報</a:t>
                      </a:r>
                      <a:endParaRPr lang="en-US" sz="1100"/>
                    </a:p>
                  </a:txBody>
                  <a:tcPr anchor="ctr" marL="152400" marR="152400" marT="50800" marB="50800">
                    <a:lnL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9A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600" b="true">
                          <a:solidFill>
                            <a:srgbClr val="FFFFFF"/>
                          </a:solidFill>
                          <a:ea typeface="Noto Sans CJK JP"/>
                        </a:rPr>
                        <a:t>扱い</a:t>
                      </a:r>
                      <a:endParaRPr lang="en-US" sz="1100"/>
                    </a:p>
                  </a:txBody>
                  <a:tcPr anchor="ctr" marL="152400" marR="152400" marT="50800" marB="50800">
                    <a:lnL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9AE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600" b="false">
                          <a:solidFill>
                            <a:srgbClr val="182B44"/>
                          </a:solidFill>
                          <a:ea typeface="Noto Sans CJK JP"/>
                        </a:rPr>
                        <a:t>保存された接続</a:t>
                      </a:r>
                      <a:endParaRPr lang="en-US" sz="1100"/>
                    </a:p>
                  </a:txBody>
                  <a:tcPr anchor="ctr" marL="152400" marR="152400" marT="50800" marB="50800">
                    <a:lnL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600" b="false">
                          <a:solidFill>
                            <a:srgbClr val="182B44"/>
                          </a:solidFill>
                          <a:ea typeface="Noto Sans CJK JP"/>
                        </a:rPr>
                        <a:t>関係として出力</a:t>
                      </a:r>
                      <a:endParaRPr lang="en-US" sz="1100"/>
                    </a:p>
                  </a:txBody>
                  <a:tcPr anchor="ctr" marL="152400" marR="152400" marT="50800" marB="50800">
                    <a:lnL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600" b="false">
                          <a:solidFill>
                            <a:srgbClr val="182B44"/>
                          </a:solidFill>
                          <a:ea typeface="Noto Sans CJK JP"/>
                        </a:rPr>
                        <a:t>近さ・独立ラベル</a:t>
                      </a:r>
                      <a:endParaRPr lang="en-US" sz="1100"/>
                    </a:p>
                  </a:txBody>
                  <a:tcPr anchor="ctr" marL="152400" marR="152400" marT="50800" marB="50800">
                    <a:lnL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600" b="false">
                          <a:solidFill>
                            <a:srgbClr val="182B44"/>
                          </a:solidFill>
                          <a:ea typeface="Noto Sans CJK JP"/>
                        </a:rPr>
                        <a:t>関係を推測しない</a:t>
                      </a:r>
                      <a:endParaRPr lang="en-US" sz="1100"/>
                    </a:p>
                  </a:txBody>
                  <a:tcPr anchor="ctr" marL="152400" marR="152400" marT="50800" marB="50800">
                    <a:lnL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2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>
            <a:off x="8255000" y="4457700"/>
            <a:ext cx="3289300" cy="10160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監査メモ：</a:t>
            </a:r>
          </a:p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false">
                <a:solidFill>
                  <a:srgbClr val="182B44"/>
                </a:solidFill>
                <a:ea typeface="Noto Sans CJK JP"/>
              </a:rPr>
              <a:t>公開する本文だけ保持</a:t>
            </a:r>
            <a:r>
              <a:rPr lang="en-US" strike="sngStrike" sz="900">
                <a:solidFill>
                  <a:srgbClr val="586C83"/>
                </a:solidFill>
                <a:latin typeface="Noto Sans CJK JP"/>
              </a:rPr>
              <a:t> STRIKE_SECRET_RAG_DEMO</a:t>
            </a:r>
          </a:p>
        </p:txBody>
      </p:sp>
      <p:sp>
        <p:nvSpPr>
          <p:cNvPr name="TextBox 17" id="17" hidden="true"/>
          <p:cNvSpPr txBox="true"/>
          <p:nvPr/>
        </p:nvSpPr>
        <p:spPr>
          <a:xfrm>
            <a:off x="8255000" y="5461000"/>
            <a:ext cx="3289300" cy="3810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>
                <a:solidFill>
                  <a:srgbClr val="182B44"/>
                </a:solidFill>
                <a:latin typeface="Noto Sans CJK JP"/>
              </a:rPr>
              <a:t>HIDDEN_SECRET_RAG_DEMO</a:t>
            </a:r>
            <a:endParaRPr lang="ja-JP"/>
          </a:p>
        </p:txBody>
      </p:sp>
      <p:sp>
        <p:nvSpPr>
          <p:cNvPr name="TextBox 18" id="18"/>
          <p:cNvSpPr txBox="true"/>
          <p:nvPr/>
        </p:nvSpPr>
        <p:spPr>
          <a:xfrm>
            <a:off x="609600" y="6019800"/>
            <a:ext cx="10947400" cy="431800"/>
          </a:xfrm>
          <a:prstGeom prst="rect">
            <a:avLst/>
          </a:prstGeom>
        </p:spPr>
        <p:txBody>
          <a:bodyPr anchor="ctr" rtlCol="false" lIns="0" rIns="0" tIns="0" bIns="0"/>
          <a:lstStyle/>
          <a:p>
            <a:pPr algn="l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>
                <a:solidFill>
                  <a:srgbClr val="586C83"/>
                </a:solidFill>
                <a:ea typeface="Noto Sans CJK JP"/>
              </a:rPr>
              <a:t>文字・表は保持。根拠のない意味付けを避け、検索結果から元ページを確認できます。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