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2000"/>
  <p:notesSz cx="6858000" cy="9144000"/>
  <p:embeddedFontLst>
    <p:embeddedFont>
      <p:font typeface="Noto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663A3E-8D1F-433E-86E2-98B4BE18F410}">
  <a:tblStyle styleId="{CE663A3E-8D1F-433E-86E2-98B4BE18F4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-bold.fntdata"/><Relationship Id="rId10" Type="http://schemas.openxmlformats.org/officeDocument/2006/relationships/font" Target="fonts/NotoSans-regular.fntdata"/><Relationship Id="rId13" Type="http://schemas.openxmlformats.org/officeDocument/2006/relationships/font" Target="fonts/NotoSans-boldItalic.fntdata"/><Relationship Id="rId12" Type="http://schemas.openxmlformats.org/officeDocument/2006/relationships/font" Target="fonts/Noto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09600" y="254000"/>
            <a:ext cx="1094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59AE"/>
                </a:solidFill>
                <a:latin typeface="Noto Sans"/>
                <a:ea typeface="Noto Sans"/>
                <a:cs typeface="Noto Sans"/>
                <a:sym typeface="Noto Sans"/>
              </a:rPr>
              <a:t>01  /  VERIFIED 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4294967295" type="title"/>
          </p:nvPr>
        </p:nvSpPr>
        <p:spPr>
          <a:xfrm>
            <a:off x="609600" y="673100"/>
            <a:ext cx="109474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B44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購入申請：分岐と差戻し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609600" y="6527800"/>
            <a:ext cx="1094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C83"/>
                </a:solidFill>
                <a:latin typeface="Noto Sans"/>
                <a:ea typeface="Noto Sans"/>
                <a:cs typeface="Noto Sans"/>
                <a:sym typeface="Noto Sans"/>
              </a:rPr>
              <a:t>convertX2X  /  native editable PowerPoint  /  RAG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1384300"/>
            <a:ext cx="10947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86C83"/>
                </a:solidFill>
                <a:latin typeface="Calibri"/>
                <a:ea typeface="Calibri"/>
                <a:cs typeface="Calibri"/>
                <a:sym typeface="Calibri"/>
              </a:rPr>
              <a:t>条件は図形内に記載。保存された接続情報から処理の関係を取り出します。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09600" y="2311400"/>
            <a:ext cx="1955800" cy="1016000"/>
          </a:xfrm>
          <a:prstGeom prst="roundRect">
            <a:avLst>
              <a:gd fmla="val 16667" name="adj"/>
            </a:avLst>
          </a:prstGeom>
          <a:solidFill>
            <a:srgbClr val="E5F0FF"/>
          </a:solidFill>
          <a:ln cap="flat" cmpd="sng" w="22850">
            <a:solidFill>
              <a:srgbClr val="1D59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申請者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購入申請を作成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3302000" y="2311400"/>
            <a:ext cx="1955800" cy="1016000"/>
          </a:xfrm>
          <a:prstGeom prst="roundRect">
            <a:avLst>
              <a:gd fmla="val 16667" name="adj"/>
            </a:avLst>
          </a:prstGeom>
          <a:solidFill>
            <a:srgbClr val="E5F0FF"/>
          </a:solidFill>
          <a:ln cap="flat" cmpd="sng" w="22850">
            <a:solidFill>
              <a:srgbClr val="1D59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上長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申請内容を確認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994400" y="1803400"/>
            <a:ext cx="2286000" cy="1016000"/>
          </a:xfrm>
          <a:prstGeom prst="roundRect">
            <a:avLst>
              <a:gd fmla="val 16667" name="adj"/>
            </a:avLst>
          </a:prstGeom>
          <a:solidFill>
            <a:srgbClr val="E0F6EF"/>
          </a:solidFill>
          <a:ln cap="flat" cmpd="sng" w="22850">
            <a:solidFill>
              <a:srgbClr val="0A75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承認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Noto Sans"/>
                <a:ea typeface="Noto Sans"/>
                <a:cs typeface="Noto Sans"/>
                <a:sym typeface="Noto Sans"/>
              </a:rPr>
              <a:t>10万円以下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9321800" y="2311400"/>
            <a:ext cx="2235200" cy="1016000"/>
          </a:xfrm>
          <a:prstGeom prst="roundRect">
            <a:avLst>
              <a:gd fmla="val 16667" name="adj"/>
            </a:avLst>
          </a:prstGeom>
          <a:solidFill>
            <a:srgbClr val="E0F6EF"/>
          </a:solidFill>
          <a:ln cap="flat" cmpd="sng" w="22850">
            <a:solidFill>
              <a:srgbClr val="0A75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購買担当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発注を確定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3302000" y="4318000"/>
            <a:ext cx="2286000" cy="1016000"/>
          </a:xfrm>
          <a:prstGeom prst="roundRect">
            <a:avLst>
              <a:gd fmla="val 16667" name="adj"/>
            </a:avLst>
          </a:prstGeom>
          <a:solidFill>
            <a:srgbClr val="FFF1DE"/>
          </a:solidFill>
          <a:ln cap="flat" cmpd="sng" w="22850">
            <a:solidFill>
              <a:srgbClr val="A653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差戻し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記載に不備あり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609600" y="4318000"/>
            <a:ext cx="1955800" cy="1016000"/>
          </a:xfrm>
          <a:prstGeom prst="roundRect">
            <a:avLst>
              <a:gd fmla="val 16667" name="adj"/>
            </a:avLst>
          </a:prstGeom>
          <a:solidFill>
            <a:srgbClr val="FFF1DE"/>
          </a:solidFill>
          <a:ln cap="flat" cmpd="sng" w="22850">
            <a:solidFill>
              <a:srgbClr val="A653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申請者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修正して再申請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5994400" y="4318000"/>
            <a:ext cx="2286000" cy="1016000"/>
          </a:xfrm>
          <a:prstGeom prst="roundRect">
            <a:avLst>
              <a:gd fmla="val 16667" name="adj"/>
            </a:avLst>
          </a:prstGeom>
          <a:solidFill>
            <a:srgbClr val="F2EBFF"/>
          </a:solidFill>
          <a:ln cap="flat" cmpd="sng" w="22850">
            <a:solidFill>
              <a:srgbClr val="664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部長確認へ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Noto Sans"/>
                <a:ea typeface="Noto Sans"/>
                <a:cs typeface="Noto Sans"/>
                <a:sym typeface="Noto Sans"/>
              </a:rPr>
              <a:t>10万円超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9321800" y="4318000"/>
            <a:ext cx="2235200" cy="1016000"/>
          </a:xfrm>
          <a:prstGeom prst="roundRect">
            <a:avLst>
              <a:gd fmla="val 16667" name="adj"/>
            </a:avLst>
          </a:prstGeom>
          <a:solidFill>
            <a:srgbClr val="F2EBFF"/>
          </a:solidFill>
          <a:ln cap="flat" cmpd="sng" w="22850">
            <a:solidFill>
              <a:srgbClr val="664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部長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追加承認を記録</a:t>
            </a:r>
            <a:endParaRPr/>
          </a:p>
        </p:txBody>
      </p:sp>
      <p:cxnSp>
        <p:nvCxnSpPr>
          <p:cNvPr id="96" name="Google Shape;96;p13"/>
          <p:cNvCxnSpPr>
            <a:stCxn id="88" idx="3"/>
            <a:endCxn id="89" idx="1"/>
          </p:cNvCxnSpPr>
          <p:nvPr/>
        </p:nvCxnSpPr>
        <p:spPr>
          <a:xfrm>
            <a:off x="2565400" y="2819400"/>
            <a:ext cx="736500" cy="0"/>
          </a:xfrm>
          <a:prstGeom prst="straightConnector1">
            <a:avLst/>
          </a:prstGeom>
          <a:noFill/>
          <a:ln cap="flat" cmpd="sng" w="29200">
            <a:solidFill>
              <a:srgbClr val="1D59A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13"/>
          <p:cNvCxnSpPr>
            <a:stCxn id="89" idx="3"/>
            <a:endCxn id="90" idx="1"/>
          </p:cNvCxnSpPr>
          <p:nvPr/>
        </p:nvCxnSpPr>
        <p:spPr>
          <a:xfrm flipH="1" rot="10800000">
            <a:off x="5257800" y="2311500"/>
            <a:ext cx="736500" cy="507900"/>
          </a:xfrm>
          <a:prstGeom prst="straightConnector1">
            <a:avLst/>
          </a:prstGeom>
          <a:noFill/>
          <a:ln cap="flat" cmpd="sng" w="29200">
            <a:solidFill>
              <a:srgbClr val="0A756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13"/>
          <p:cNvCxnSpPr>
            <a:stCxn id="90" idx="3"/>
            <a:endCxn id="91" idx="1"/>
          </p:cNvCxnSpPr>
          <p:nvPr/>
        </p:nvCxnSpPr>
        <p:spPr>
          <a:xfrm>
            <a:off x="8280400" y="2311400"/>
            <a:ext cx="1041300" cy="507900"/>
          </a:xfrm>
          <a:prstGeom prst="straightConnector1">
            <a:avLst/>
          </a:prstGeom>
          <a:noFill/>
          <a:ln cap="flat" cmpd="sng" w="29200">
            <a:solidFill>
              <a:srgbClr val="0A756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13"/>
          <p:cNvCxnSpPr>
            <a:stCxn id="89" idx="2"/>
            <a:endCxn id="92" idx="0"/>
          </p:cNvCxnSpPr>
          <p:nvPr/>
        </p:nvCxnSpPr>
        <p:spPr>
          <a:xfrm>
            <a:off x="4279900" y="3327400"/>
            <a:ext cx="165000" cy="990600"/>
          </a:xfrm>
          <a:prstGeom prst="straightConnector1">
            <a:avLst/>
          </a:prstGeom>
          <a:noFill/>
          <a:ln cap="flat" cmpd="sng" w="29200">
            <a:solidFill>
              <a:srgbClr val="A6531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13"/>
          <p:cNvCxnSpPr>
            <a:stCxn id="92" idx="1"/>
            <a:endCxn id="93" idx="3"/>
          </p:cNvCxnSpPr>
          <p:nvPr/>
        </p:nvCxnSpPr>
        <p:spPr>
          <a:xfrm rot="10800000">
            <a:off x="2565500" y="4826000"/>
            <a:ext cx="736500" cy="0"/>
          </a:xfrm>
          <a:prstGeom prst="straightConnector1">
            <a:avLst/>
          </a:prstGeom>
          <a:noFill/>
          <a:ln cap="flat" cmpd="sng" w="29200">
            <a:solidFill>
              <a:srgbClr val="A6531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13"/>
          <p:cNvCxnSpPr>
            <a:stCxn id="93" idx="0"/>
            <a:endCxn id="88" idx="2"/>
          </p:cNvCxnSpPr>
          <p:nvPr/>
        </p:nvCxnSpPr>
        <p:spPr>
          <a:xfrm rot="10800000">
            <a:off x="1587500" y="3327400"/>
            <a:ext cx="0" cy="990600"/>
          </a:xfrm>
          <a:prstGeom prst="straightConnector1">
            <a:avLst/>
          </a:prstGeom>
          <a:noFill/>
          <a:ln cap="flat" cmpd="sng" w="29200">
            <a:solidFill>
              <a:srgbClr val="A6531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13"/>
          <p:cNvCxnSpPr>
            <a:stCxn id="89" idx="3"/>
            <a:endCxn id="94" idx="1"/>
          </p:cNvCxnSpPr>
          <p:nvPr/>
        </p:nvCxnSpPr>
        <p:spPr>
          <a:xfrm>
            <a:off x="5257800" y="2819400"/>
            <a:ext cx="736500" cy="2006700"/>
          </a:xfrm>
          <a:prstGeom prst="straightConnector1">
            <a:avLst/>
          </a:prstGeom>
          <a:noFill/>
          <a:ln cap="flat" cmpd="sng" w="29200">
            <a:solidFill>
              <a:srgbClr val="6648A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13"/>
          <p:cNvCxnSpPr>
            <a:stCxn id="94" idx="3"/>
            <a:endCxn id="95" idx="1"/>
          </p:cNvCxnSpPr>
          <p:nvPr/>
        </p:nvCxnSpPr>
        <p:spPr>
          <a:xfrm>
            <a:off x="8280400" y="4826000"/>
            <a:ext cx="1041300" cy="0"/>
          </a:xfrm>
          <a:prstGeom prst="straightConnector1">
            <a:avLst/>
          </a:prstGeom>
          <a:noFill/>
          <a:ln cap="flat" cmpd="sng" w="29200">
            <a:solidFill>
              <a:srgbClr val="6648A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13"/>
          <p:cNvCxnSpPr>
            <a:stCxn id="95" idx="0"/>
            <a:endCxn id="91" idx="2"/>
          </p:cNvCxnSpPr>
          <p:nvPr/>
        </p:nvCxnSpPr>
        <p:spPr>
          <a:xfrm rot="10800000">
            <a:off x="10439400" y="3327400"/>
            <a:ext cx="0" cy="990600"/>
          </a:xfrm>
          <a:prstGeom prst="straightConnector1">
            <a:avLst/>
          </a:prstGeom>
          <a:noFill/>
          <a:ln cap="flat" cmpd="sng" w="29200">
            <a:solidFill>
              <a:srgbClr val="6648A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13"/>
          <p:cNvSpPr txBox="1"/>
          <p:nvPr/>
        </p:nvSpPr>
        <p:spPr>
          <a:xfrm>
            <a:off x="609600" y="5892800"/>
            <a:ext cx="10947400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86C83"/>
                </a:solidFill>
                <a:latin typeface="Noto Sans"/>
                <a:ea typeface="Noto Sans"/>
                <a:cs typeface="Noto Sans"/>
                <a:sym typeface="Noto Sans"/>
              </a:rPr>
              <a:t>RAGで検索したいこと：少額購入の承認経路／高額購入の追加承認／不備時の戻り先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/>
        </p:nvSpPr>
        <p:spPr>
          <a:xfrm>
            <a:off x="609600" y="254000"/>
            <a:ext cx="1094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59AE"/>
                </a:solidFill>
                <a:latin typeface="Noto Sans"/>
                <a:ea typeface="Noto Sans"/>
                <a:cs typeface="Noto Sans"/>
                <a:sym typeface="Noto Sans"/>
              </a:rPr>
              <a:t>02  /  DIRECTION &amp; GROUPS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>
            <p:ph idx="4294967295" type="title"/>
          </p:nvPr>
        </p:nvSpPr>
        <p:spPr>
          <a:xfrm>
            <a:off x="609600" y="673100"/>
            <a:ext cx="109474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B44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グループ・双方向・始点の矢印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09600" y="6527800"/>
            <a:ext cx="1094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C83"/>
                </a:solidFill>
                <a:latin typeface="Noto Sans"/>
                <a:ea typeface="Noto Sans"/>
                <a:cs typeface="Noto Sans"/>
                <a:sym typeface="Noto Sans"/>
              </a:rPr>
              <a:t>convertX2X  /  native editable PowerPoint  /  RAG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09600" y="1384300"/>
            <a:ext cx="10947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86C83"/>
                </a:solidFill>
                <a:latin typeface="Calibri"/>
                <a:ea typeface="Calibri"/>
                <a:cs typeface="Calibri"/>
                <a:sym typeface="Calibri"/>
              </a:rPr>
              <a:t>グループ内外の接続を保持し、矢印がどちらの端に付いているかも区別します。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09600" y="2159000"/>
            <a:ext cx="70485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59AE"/>
                </a:solidFill>
                <a:latin typeface="Calibri"/>
                <a:ea typeface="Calibri"/>
                <a:cs typeface="Calibri"/>
                <a:sym typeface="Calibri"/>
              </a:rPr>
              <a:t>社内の確認グループ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966200" y="2159000"/>
            <a:ext cx="259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A756F"/>
                </a:solidFill>
                <a:latin typeface="Calibri"/>
                <a:ea typeface="Calibri"/>
                <a:cs typeface="Calibri"/>
                <a:sym typeface="Calibri"/>
              </a:rPr>
              <a:t>連携先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14"/>
          <p:cNvGrpSpPr/>
          <p:nvPr/>
        </p:nvGrpSpPr>
        <p:grpSpPr>
          <a:xfrm>
            <a:off x="609600" y="2857500"/>
            <a:ext cx="7086600" cy="2451100"/>
            <a:chOff x="0" y="0"/>
            <a:chExt cx="7086600" cy="2451100"/>
          </a:xfrm>
        </p:grpSpPr>
        <p:sp>
          <p:nvSpPr>
            <p:cNvPr id="117" name="Google Shape;117;p14"/>
            <p:cNvSpPr/>
            <p:nvPr/>
          </p:nvSpPr>
          <p:spPr>
            <a:xfrm>
              <a:off x="0" y="0"/>
              <a:ext cx="2413000" cy="1117600"/>
            </a:xfrm>
            <a:prstGeom prst="roundRect">
              <a:avLst>
                <a:gd fmla="val 16667" name="adj"/>
              </a:avLst>
            </a:prstGeom>
            <a:solidFill>
              <a:srgbClr val="E5F0FF"/>
            </a:solidFill>
            <a:ln cap="flat" cmpd="sng" w="22850">
              <a:solidFill>
                <a:srgbClr val="1D59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101600" spcFirstLastPara="1" rIns="101600" wrap="square" tIns="50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182B44"/>
                  </a:solidFill>
                  <a:latin typeface="Calibri"/>
                  <a:ea typeface="Calibri"/>
                  <a:cs typeface="Calibri"/>
                  <a:sym typeface="Calibri"/>
                </a:rPr>
                <a:t>開発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82B44"/>
                  </a:solidFill>
                  <a:latin typeface="Calibri"/>
                  <a:ea typeface="Calibri"/>
                  <a:cs typeface="Calibri"/>
                  <a:sym typeface="Calibri"/>
                </a:rPr>
                <a:t>連携データを作成</a:t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4381500" y="0"/>
              <a:ext cx="2413000" cy="1117600"/>
            </a:xfrm>
            <a:prstGeom prst="roundRect">
              <a:avLst>
                <a:gd fmla="val 16667" name="adj"/>
              </a:avLst>
            </a:prstGeom>
            <a:solidFill>
              <a:srgbClr val="E5F0FF"/>
            </a:solidFill>
            <a:ln cap="flat" cmpd="sng" w="22850">
              <a:solidFill>
                <a:srgbClr val="1D59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101600" spcFirstLastPara="1" rIns="101600" wrap="square" tIns="50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182B44"/>
                  </a:solidFill>
                  <a:latin typeface="Calibri"/>
                  <a:ea typeface="Calibri"/>
                  <a:cs typeface="Calibri"/>
                  <a:sym typeface="Calibri"/>
                </a:rPr>
                <a:t>審査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82B44"/>
                  </a:solidFill>
                  <a:latin typeface="Calibri"/>
                  <a:ea typeface="Calibri"/>
                  <a:cs typeface="Calibri"/>
                  <a:sym typeface="Calibri"/>
                </a:rPr>
                <a:t>内容を確認</a:t>
              </a:r>
              <a:endParaRPr/>
            </a:p>
          </p:txBody>
        </p:sp>
        <p:cxnSp>
          <p:nvCxnSpPr>
            <p:cNvPr id="119" name="Google Shape;119;p14"/>
            <p:cNvCxnSpPr>
              <a:stCxn id="117" idx="3"/>
              <a:endCxn id="118" idx="1"/>
            </p:cNvCxnSpPr>
            <p:nvPr/>
          </p:nvCxnSpPr>
          <p:spPr>
            <a:xfrm>
              <a:off x="2413000" y="558800"/>
              <a:ext cx="1968600" cy="0"/>
            </a:xfrm>
            <a:prstGeom prst="straightConnector1">
              <a:avLst/>
            </a:prstGeom>
            <a:noFill/>
            <a:ln cap="flat" cmpd="sng" w="29200">
              <a:solidFill>
                <a:srgbClr val="1D59AE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0" name="Google Shape;120;p14"/>
            <p:cNvSpPr txBox="1"/>
            <p:nvPr/>
          </p:nvSpPr>
          <p:spPr>
            <a:xfrm>
              <a:off x="0" y="1765300"/>
              <a:ext cx="70866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586C83"/>
                  </a:solidFill>
                  <a:latin typeface="Calibri"/>
                  <a:ea typeface="Calibri"/>
                  <a:cs typeface="Calibri"/>
                  <a:sym typeface="Calibri"/>
                </a:rPr>
                <a:t>補足：双方向の確認。担当者との連絡は別途行います。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8966200" y="2857500"/>
            <a:ext cx="2590800" cy="1117600"/>
          </a:xfrm>
          <a:prstGeom prst="roundRect">
            <a:avLst>
              <a:gd fmla="val 16667" name="adj"/>
            </a:avLst>
          </a:prstGeom>
          <a:solidFill>
            <a:srgbClr val="E0F6EF"/>
          </a:solidFill>
          <a:ln cap="flat" cmpd="sng" w="22850">
            <a:solidFill>
              <a:srgbClr val="0A75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受信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連携結果を受領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8966200" y="4648200"/>
            <a:ext cx="2590800" cy="914400"/>
          </a:xfrm>
          <a:prstGeom prst="roundRect">
            <a:avLst>
              <a:gd fmla="val 16667" name="adj"/>
            </a:avLst>
          </a:prstGeom>
          <a:solidFill>
            <a:srgbClr val="FFF1DE"/>
          </a:solidFill>
          <a:ln cap="flat" cmpd="sng" w="22850">
            <a:solidFill>
              <a:srgbClr val="A653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再送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保留データを送信</a:t>
            </a:r>
            <a:endParaRPr/>
          </a:p>
        </p:txBody>
      </p:sp>
      <p:cxnSp>
        <p:nvCxnSpPr>
          <p:cNvPr id="123" name="Google Shape;123;p14"/>
          <p:cNvCxnSpPr>
            <a:stCxn id="118" idx="3"/>
            <a:endCxn id="121" idx="1"/>
          </p:cNvCxnSpPr>
          <p:nvPr/>
        </p:nvCxnSpPr>
        <p:spPr>
          <a:xfrm>
            <a:off x="7404100" y="3416300"/>
            <a:ext cx="1562100" cy="0"/>
          </a:xfrm>
          <a:prstGeom prst="straightConnector1">
            <a:avLst/>
          </a:prstGeom>
          <a:noFill/>
          <a:ln cap="flat" cmpd="sng" w="29200">
            <a:solidFill>
              <a:srgbClr val="0A756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14"/>
          <p:cNvCxnSpPr>
            <a:stCxn id="121" idx="2"/>
            <a:endCxn id="122" idx="0"/>
          </p:cNvCxnSpPr>
          <p:nvPr/>
        </p:nvCxnSpPr>
        <p:spPr>
          <a:xfrm>
            <a:off x="10261600" y="3975100"/>
            <a:ext cx="0" cy="673200"/>
          </a:xfrm>
          <a:prstGeom prst="straightConnector1">
            <a:avLst/>
          </a:prstGeom>
          <a:noFill/>
          <a:ln cap="flat" cmpd="sng" w="29200">
            <a:solidFill>
              <a:srgbClr val="A65314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25" name="Google Shape;125;p14"/>
          <p:cNvSpPr txBox="1"/>
          <p:nvPr/>
        </p:nvSpPr>
        <p:spPr>
          <a:xfrm>
            <a:off x="609600" y="5892800"/>
            <a:ext cx="10947400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86C83"/>
                </a:solidFill>
                <a:latin typeface="Calibri"/>
                <a:ea typeface="Calibri"/>
                <a:cs typeface="Calibri"/>
                <a:sym typeface="Calibri"/>
              </a:rPr>
              <a:t>検証点：開発と審査は双方向／審査から受信へ接続／下の再送から上の受信へ矢印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/>
        </p:nvSpPr>
        <p:spPr>
          <a:xfrm>
            <a:off x="609600" y="254000"/>
            <a:ext cx="1094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59AE"/>
                </a:solidFill>
                <a:latin typeface="Noto Sans"/>
                <a:ea typeface="Noto Sans"/>
                <a:cs typeface="Noto Sans"/>
                <a:sym typeface="Noto Sans"/>
              </a:rPr>
              <a:t>03  /  EVIDENCE BEFORE INFERENCE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>
            <p:ph idx="4294967295" type="title"/>
          </p:nvPr>
        </p:nvSpPr>
        <p:spPr>
          <a:xfrm>
            <a:off x="609600" y="673100"/>
            <a:ext cx="109474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B44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つながりを推測しない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>
            <p:ph idx="11" type="ftr"/>
          </p:nvPr>
        </p:nvSpPr>
        <p:spPr>
          <a:xfrm>
            <a:off x="609600" y="6527800"/>
            <a:ext cx="1094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C83"/>
                </a:solidFill>
                <a:latin typeface="Noto Sans"/>
                <a:ea typeface="Noto Sans"/>
                <a:cs typeface="Noto Sans"/>
                <a:sym typeface="Noto Sans"/>
              </a:rPr>
              <a:t>convertX2X  /  native editable PowerPoint  /  RAG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609600" y="1384300"/>
            <a:ext cx="10947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86C83"/>
                </a:solidFill>
                <a:latin typeface="Calibri"/>
                <a:ea typeface="Calibri"/>
                <a:cs typeface="Calibri"/>
                <a:sym typeface="Calibri"/>
              </a:rPr>
              <a:t>接続先が保存されていない矢印や、近くの独立ラベルから関係を作りません。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25500" y="2514600"/>
            <a:ext cx="2286000" cy="1016000"/>
          </a:xfrm>
          <a:prstGeom prst="roundRect">
            <a:avLst>
              <a:gd fmla="val 16667" name="adj"/>
            </a:avLst>
          </a:prstGeom>
          <a:solidFill>
            <a:srgbClr val="E5F0FF"/>
          </a:solidFill>
          <a:ln cap="flat" cmpd="sng" w="22850">
            <a:solidFill>
              <a:srgbClr val="1D59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受付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申請を受領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4953000" y="2514600"/>
            <a:ext cx="2286000" cy="1016000"/>
          </a:xfrm>
          <a:prstGeom prst="roundRect">
            <a:avLst>
              <a:gd fmla="val 16667" name="adj"/>
            </a:avLst>
          </a:prstGeom>
          <a:solidFill>
            <a:srgbClr val="E5F0FF"/>
          </a:solidFill>
          <a:ln cap="flat" cmpd="sng" w="22850">
            <a:solidFill>
              <a:srgbClr val="1D59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担当者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内容を確認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080500" y="2514600"/>
            <a:ext cx="2286000" cy="1016000"/>
          </a:xfrm>
          <a:prstGeom prst="roundRect">
            <a:avLst>
              <a:gd fmla="val 16667" name="adj"/>
            </a:avLst>
          </a:prstGeom>
          <a:solidFill>
            <a:srgbClr val="E0F6EF"/>
          </a:solidFill>
          <a:ln cap="flat" cmpd="sng" w="22850">
            <a:solidFill>
              <a:srgbClr val="0A75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処理完了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記録を保存</a:t>
            </a:r>
            <a:endParaRPr/>
          </a:p>
        </p:txBody>
      </p:sp>
      <p:cxnSp>
        <p:nvCxnSpPr>
          <p:cNvPr id="137" name="Google Shape;137;p15"/>
          <p:cNvCxnSpPr/>
          <p:nvPr/>
        </p:nvCxnSpPr>
        <p:spPr>
          <a:xfrm>
            <a:off x="3225800" y="3022600"/>
            <a:ext cx="1600200" cy="0"/>
          </a:xfrm>
          <a:prstGeom prst="straightConnector1">
            <a:avLst/>
          </a:prstGeom>
          <a:noFill/>
          <a:ln cap="flat" cmpd="sng" w="29200">
            <a:solidFill>
              <a:srgbClr val="586C8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p15"/>
          <p:cNvCxnSpPr>
            <a:stCxn id="135" idx="3"/>
            <a:endCxn id="136" idx="1"/>
          </p:cNvCxnSpPr>
          <p:nvPr/>
        </p:nvCxnSpPr>
        <p:spPr>
          <a:xfrm>
            <a:off x="7239000" y="3022600"/>
            <a:ext cx="1841400" cy="0"/>
          </a:xfrm>
          <a:prstGeom prst="straightConnector1">
            <a:avLst/>
          </a:prstGeom>
          <a:noFill/>
          <a:ln cap="flat" cmpd="sng" w="29200">
            <a:solidFill>
              <a:srgbClr val="0A756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15"/>
          <p:cNvSpPr txBox="1"/>
          <p:nvPr/>
        </p:nvSpPr>
        <p:spPr>
          <a:xfrm>
            <a:off x="3517900" y="21463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5314"/>
                </a:solidFill>
                <a:latin typeface="Calibri"/>
                <a:ea typeface="Calibri"/>
                <a:cs typeface="Calibri"/>
                <a:sym typeface="Calibri"/>
              </a:rPr>
              <a:t>承認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7670800" y="2146300"/>
            <a:ext cx="104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5314"/>
                </a:solidFill>
                <a:latin typeface="Calibri"/>
                <a:ea typeface="Calibri"/>
                <a:cs typeface="Calibri"/>
                <a:sym typeface="Calibri"/>
              </a:rPr>
              <a:t>至急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25500" y="37084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86C83"/>
                </a:solidFill>
                <a:latin typeface="Calibri"/>
                <a:ea typeface="Calibri"/>
                <a:cs typeface="Calibri"/>
                <a:sym typeface="Calibri"/>
              </a:rPr>
              <a:t>左の矢印：接続先IDなし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5829300" y="3708400"/>
            <a:ext cx="558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86C83"/>
                </a:solidFill>
                <a:latin typeface="Calibri"/>
                <a:ea typeface="Calibri"/>
                <a:cs typeface="Calibri"/>
                <a:sym typeface="Calibri"/>
              </a:rPr>
              <a:t>右の矢印：接続先IDあり／「至急」は独立ラベル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5"/>
          <p:cNvGraphicFramePr/>
          <p:nvPr/>
        </p:nvGraphicFramePr>
        <p:xfrm>
          <a:off x="825500" y="444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{CE663A3E-8D1F-433E-86E2-98B4BE18F410}</a:tableStyleId>
              </a:tblPr>
              <a:tblGrid>
                <a:gridCol w="2857500"/>
                <a:gridCol w="3873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情報</a:t>
                      </a:r>
                      <a:endParaRPr sz="1100" u="none" cap="none" strike="noStrike"/>
                    </a:p>
                  </a:txBody>
                  <a:tcPr marT="50800" marB="50800" marR="152400" marL="152400" anchor="ctr">
                    <a:lnL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5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扱い</a:t>
                      </a:r>
                      <a:endParaRPr sz="1100" u="none" cap="none" strike="noStrike"/>
                    </a:p>
                  </a:txBody>
                  <a:tcPr marT="50800" marB="50800" marR="152400" marL="152400" anchor="ctr">
                    <a:lnL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59A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82B44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保存された接続</a:t>
                      </a:r>
                      <a:endParaRPr sz="1100" u="none" cap="none" strike="noStrike"/>
                    </a:p>
                  </a:txBody>
                  <a:tcPr marT="50800" marB="50800" marR="152400" marL="152400" anchor="ctr">
                    <a:lnL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82B44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関係として出力</a:t>
                      </a:r>
                      <a:endParaRPr sz="1100" u="none" cap="none" strike="noStrike"/>
                    </a:p>
                  </a:txBody>
                  <a:tcPr marT="50800" marB="50800" marR="152400" marL="152400" anchor="ctr">
                    <a:lnL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82B44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近さ・独立ラベル</a:t>
                      </a:r>
                      <a:endParaRPr sz="1100" u="none" cap="none" strike="noStrike"/>
                    </a:p>
                  </a:txBody>
                  <a:tcPr marT="50800" marB="50800" marR="152400" marL="152400" anchor="ctr">
                    <a:lnL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82B44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関係を推測しない</a:t>
                      </a:r>
                      <a:endParaRPr sz="1100" u="none" cap="none" strike="noStrike"/>
                    </a:p>
                  </a:txBody>
                  <a:tcPr marT="50800" marB="50800" marR="152400" marL="152400" anchor="ctr">
                    <a:lnL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2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15"/>
          <p:cNvSpPr txBox="1"/>
          <p:nvPr/>
        </p:nvSpPr>
        <p:spPr>
          <a:xfrm>
            <a:off x="8255000" y="4457700"/>
            <a:ext cx="32893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監査メモ：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82B44"/>
                </a:solidFill>
                <a:latin typeface="Calibri"/>
                <a:ea typeface="Calibri"/>
                <a:cs typeface="Calibri"/>
                <a:sym typeface="Calibri"/>
              </a:rPr>
              <a:t>公開する本文だけ保持</a:t>
            </a:r>
            <a:r>
              <a:rPr b="0" i="0" lang="en-US" sz="900" u="none" cap="none" strike="sngStrike">
                <a:solidFill>
                  <a:srgbClr val="586C83"/>
                </a:solidFill>
                <a:latin typeface="Noto Sans"/>
                <a:ea typeface="Noto Sans"/>
                <a:cs typeface="Noto Sans"/>
                <a:sym typeface="Noto Sans"/>
              </a:rPr>
              <a:t> STRIKE_SECRET_RAG_DEMO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09600" y="6019800"/>
            <a:ext cx="10947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86C83"/>
                </a:solidFill>
                <a:latin typeface="Calibri"/>
                <a:ea typeface="Calibri"/>
                <a:cs typeface="Calibri"/>
                <a:sym typeface="Calibri"/>
              </a:rPr>
              <a:t>文字・表は保持。根拠のない意味付けを避け、検索結果から元ページを確認できます。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