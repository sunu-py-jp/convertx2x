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</p:sldIdLst>
  <p:sldSz cx="12192000" cy="787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>
            <p:ph type="title"/>
          </p:nvPr>
        </p:nvSpPr>
        <p:spPr>
          <a:xfrm>
            <a:off x="406400" y="228600"/>
            <a:ext cx="11303000" cy="6096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 sz="2800" b="true">
                <a:solidFill>
                  <a:srgbClr val="19324D"/>
                </a:solidFill>
                <a:latin typeface="Noto Sans CJK JP"/>
              </a:rPr>
              <a:t>PowerPoint / 画面画像と編集可能な注釈</a:t>
            </a:r>
            <a:endParaRPr lang="ja-JP"/>
          </a:p>
        </p:txBody>
      </p:sp>
      <p:sp>
        <p:nvSpPr>
          <p:cNvPr name="TextBox 3" id="3"/>
          <p:cNvSpPr txBox="true"/>
          <p:nvPr/>
        </p:nvSpPr>
        <p:spPr>
          <a:xfrm>
            <a:off x="406400" y="965200"/>
            <a:ext cx="111760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 sz="1600" b="false">
                <a:solidFill>
                  <a:srgbClr val="19324D"/>
                </a:solidFill>
                <a:ea typeface="Noto Sans CJK JP"/>
              </a:rPr>
              <a:t>赤枠は画像内、注釈は右下へはみ出します。緑のメモは画像から離しています。</a:t>
            </a:r>
            <a:endParaRPr lang="ja-JP"/>
          </a:p>
        </p:txBody>
      </p:sp>
      <p:pic>
        <p:nvPicPr>
          <p:cNvPr name="Picture 4" id="4" descr="架空の申請一覧画面。赤枠と注釈は別の編集可能な図形。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714500"/>
            <a:ext cx="7315200" cy="45720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>
            <a:off x="787400" y="4953000"/>
            <a:ext cx="4572000" cy="990600"/>
          </a:xfrm>
          <a:prstGeom prst="rect">
            <a:avLst/>
          </a:prstGeom>
          <a:noFill/>
          <a:ln w="38100">
            <a:solidFill>
              <a:srgbClr val="CD324A"/>
            </a:solidFill>
          </a:ln>
        </p:spPr>
        <p:txBody>
          <a:bodyPr anchor="ctr" lIns="127000" rIns="127000"/>
          <a:p>
            <a:pPr algn="ctr"/>
            <a:r>
              <a:rPr lang="en-US" sz="1800" b="true">
                <a:solidFill>
                  <a:srgbClr val="CD324A"/>
                </a:solidFill>
                <a:latin typeface="Noto Sans CJK JP"/>
              </a:rPr>
              <a:t/>
            </a:r>
          </a:p>
        </p:txBody>
      </p:sp>
      <p:sp>
        <p:nvSpPr>
          <p:cNvPr name="TextBox 6" id="6"/>
          <p:cNvSpPr txBox="true"/>
          <p:nvPr/>
        </p:nvSpPr>
        <p:spPr>
          <a:xfrm>
            <a:off x="6731000" y="5715000"/>
            <a:ext cx="3302000" cy="1422400"/>
          </a:xfrm>
          <a:prstGeom prst="rect">
            <a:avLst/>
          </a:prstGeom>
          <a:solidFill>
            <a:srgbClr val="FFF0F3"/>
          </a:solidFill>
          <a:ln w="38100">
            <a:solidFill>
              <a:srgbClr val="CD324A"/>
            </a:solidFill>
          </a:ln>
        </p:spPr>
        <p:txBody>
          <a:bodyPr anchor="ctr" rtlCol="false"/>
          <a:lstStyle/>
          <a:p>
            <a:pPr algn="ctr">
              <a:defRPr/>
            </a:pPr>
            <a:r>
              <a:rPr lang="en-US" sz="1800" b="true">
                <a:solidFill>
                  <a:srgbClr val="CD324A"/>
                </a:solidFill>
                <a:ea typeface="Noto Sans CJK JP"/>
              </a:rPr>
              <a:t>送信前に</a:t>
            </a:r>
          </a:p>
          <a:p>
            <a:pPr algn="ctr">
              <a:defRPr/>
            </a:pPr>
            <a:r>
              <a:rPr lang="en-US" sz="1800" b="true">
                <a:solidFill>
                  <a:srgbClr val="CD324A"/>
                </a:solidFill>
                <a:ea typeface="Noto Sans CJK JP"/>
              </a:rPr>
              <a:t>状態を確認</a:t>
            </a:r>
          </a:p>
        </p:txBody>
      </p:sp>
      <p:sp>
        <p:nvSpPr>
          <p:cNvPr name="AutoShape 7" id="7"/>
          <p:cNvSpPr/>
          <p:nvPr/>
        </p:nvSpPr>
        <p:spPr>
          <a:xfrm>
            <a:off x="9017000" y="2413000"/>
            <a:ext cx="2603500" cy="1244600"/>
          </a:xfrm>
          <a:prstGeom prst="rect">
            <a:avLst/>
          </a:prstGeom>
          <a:solidFill>
            <a:srgbClr val="EAF8F3"/>
          </a:solidFill>
          <a:ln w="38100">
            <a:solidFill>
              <a:srgbClr val="157D70"/>
            </a:solidFill>
          </a:ln>
        </p:spPr>
        <p:txBody>
          <a:bodyPr anchor="ctr" lIns="127000" rIns="127000"/>
          <a:p>
            <a:pPr algn="ctr"/>
            <a:r>
              <a:rPr lang="en-US" sz="1800" b="true">
                <a:solidFill>
                  <a:srgbClr val="157D70"/>
                </a:solidFill>
                <a:ea typeface="Noto Sans CJK JP"/>
              </a:rPr>
              <a:t>画像と離れたメモ</a:t>
            </a:r>
          </a:p>
          <a:p>
            <a:pPr algn="ctr"/>
            <a:r>
              <a:rPr lang="en-US" sz="1800" b="true">
                <a:solidFill>
                  <a:srgbClr val="157D70"/>
                </a:solidFill>
                <a:ea typeface="Noto Sans CJK JP"/>
              </a:rPr>
              <a:t>単独の図形として保持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>
            <p:ph type="title"/>
          </p:nvPr>
        </p:nvSpPr>
        <p:spPr>
          <a:xfrm>
            <a:off x="406400" y="228600"/>
            <a:ext cx="11430000" cy="6096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 sz="2800" b="true">
                <a:solidFill>
                  <a:srgbClr val="19324D"/>
                </a:solidFill>
                <a:latin typeface="Noto Sans CJK JP"/>
              </a:rPr>
              <a:t>PowerPoint / 画像の上に画像を重ねる</a:t>
            </a:r>
            <a:endParaRPr lang="ja-JP"/>
          </a:p>
        </p:txBody>
      </p:sp>
      <p:sp>
        <p:nvSpPr>
          <p:cNvPr name="TextBox 3" id="3"/>
          <p:cNvSpPr txBox="true"/>
          <p:nvPr/>
        </p:nvSpPr>
        <p:spPr>
          <a:xfrm>
            <a:off x="406400" y="965200"/>
            <a:ext cx="11366500" cy="635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 sz="1600" b="false">
                <a:solidFill>
                  <a:srgbClr val="19324D"/>
                </a:solidFill>
                <a:ea typeface="Noto Sans CJK JP"/>
              </a:rPr>
              <a:t>画面全体に拡大画像を重ねています。画像だけの重なりも1枚へまとめます。</a:t>
            </a:r>
            <a:endParaRPr lang="ja-JP"/>
          </a:p>
        </p:txBody>
      </p:sp>
      <p:pic>
        <p:nvPicPr>
          <p:cNvPr name="Picture 4" id="4" descr="架空の申請一覧画面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841500"/>
            <a:ext cx="7315200" cy="4572000"/>
          </a:xfrm>
          <a:prstGeom prst="rect">
            <a:avLst/>
          </a:prstGeom>
        </p:spPr>
      </p:pic>
      <p:pic>
        <p:nvPicPr>
          <p:cNvPr name="Picture 5" id="5" descr="状態欄と送信ボタンの拡大画像"/>
          <p:cNvPicPr>
            <a:picLocks noChangeAspect="true"/>
          </p:cNvPicPr>
          <p:nvPr/>
        </p:nvPicPr>
        <p:blipFill>
          <a:blip r:embed="rId2"/>
          <a:srcRect l="0" t="70000" r="0" b="10000"/>
          <a:stretch>
            <a:fillRect/>
          </a:stretch>
        </p:blipFill>
        <p:spPr>
          <a:xfrm>
            <a:off x="5461000" y="5080000"/>
            <a:ext cx="6096000" cy="1143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>
            <p:ph type="title"/>
          </p:nvPr>
        </p:nvSpPr>
        <p:spPr>
          <a:xfrm>
            <a:off x="406400" y="228600"/>
            <a:ext cx="11430000" cy="6096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 sz="2800" b="true">
                <a:solidFill>
                  <a:srgbClr val="19324D"/>
                </a:solidFill>
                <a:latin typeface="Noto Sans CJK JP"/>
              </a:rPr>
              <a:t>PowerPoint / 表に重なる画像・図形・文字</a:t>
            </a:r>
            <a:endParaRPr lang="ja-JP"/>
          </a:p>
        </p:txBody>
      </p:sp>
      <p:sp>
        <p:nvSpPr>
          <p:cNvPr name="TextBox 3" id="3"/>
          <p:cNvSpPr txBox="true"/>
          <p:nvPr/>
        </p:nvSpPr>
        <p:spPr>
          <a:xfrm>
            <a:off x="406400" y="965200"/>
            <a:ext cx="11366500" cy="635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 sz="1600" b="false">
                <a:solidFill>
                  <a:srgbClr val="19324D"/>
                </a:solidFill>
                <a:ea typeface="Noto Sans CJK JP"/>
              </a:rPr>
              <a:t>表はMarkdownの表として残し、重なりを保った見た目も1枚のPNGにします。</a:t>
            </a:r>
            <a:endParaRPr lang="ja-JP"/>
          </a:p>
        </p:txBody>
      </p:sp>
      <p:graphicFrame>
        <p:nvGraphicFramePr>
          <p:cNvPr name="Table 4" id="4"/>
          <p:cNvGraphicFramePr>
            <a:graphicFrameLocks noGrp="true"/>
          </p:cNvGraphicFramePr>
          <p:nvPr/>
        </p:nvGraphicFramePr>
        <p:xfrm>
          <a:off x="571500" y="2095500"/>
          <a:ext cx="7620000" cy="3454400"/>
        </p:xfrm>
        <a:graphic>
          <a:graphicData uri="http://schemas.openxmlformats.org/drawingml/2006/table">
            <a:tbl>
              <a:tblPr firstRow="true"/>
              <a:tblGrid>
                <a:gridCol w="2540000"/>
                <a:gridCol w="2540000"/>
                <a:gridCol w="2540000"/>
              </a:tblGrid>
              <a:tr h="863600"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sz="2000" b="true">
                          <a:solidFill>
                            <a:srgbClr val="FFFFFF"/>
                          </a:solidFill>
                          <a:ea typeface="Noto Sans CJK JP"/>
                        </a:rPr>
                        <a:t>確認項目</a:t>
                      </a:r>
                      <a:endParaRPr lang="en-US" sz="11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9324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sz="2000" b="true">
                          <a:solidFill>
                            <a:srgbClr val="FFFFFF"/>
                          </a:solidFill>
                          <a:ea typeface="Noto Sans CJK JP"/>
                        </a:rPr>
                        <a:t>担当</a:t>
                      </a:r>
                      <a:endParaRPr lang="en-US" sz="11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9324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sz="2000" b="true">
                          <a:solidFill>
                            <a:srgbClr val="FFFFFF"/>
                          </a:solidFill>
                          <a:ea typeface="Noto Sans CJK JP"/>
                        </a:rPr>
                        <a:t>状態</a:t>
                      </a:r>
                      <a:endParaRPr lang="en-US" sz="11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9324D"/>
                    </a:solidFill>
                  </a:tcPr>
                </a:tc>
              </a:tr>
              <a:tr h="863600"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sz="2000" b="false">
                          <a:solidFill>
                            <a:srgbClr val="19324D"/>
                          </a:solidFill>
                          <a:ea typeface="Noto Sans CJK JP"/>
                        </a:rPr>
                        <a:t>申請内容</a:t>
                      </a:r>
                      <a:endParaRPr lang="en-US" sz="11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sz="2000" b="false">
                          <a:solidFill>
                            <a:srgbClr val="19324D"/>
                          </a:solidFill>
                          <a:ea typeface="Noto Sans CJK JP"/>
                        </a:rPr>
                        <a:t>営業</a:t>
                      </a:r>
                      <a:endParaRPr lang="en-US" sz="11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sz="2000" b="false">
                          <a:solidFill>
                            <a:srgbClr val="19324D"/>
                          </a:solidFill>
                          <a:ea typeface="Noto Sans CJK JP"/>
                        </a:rPr>
                        <a:t>確認済み</a:t>
                      </a:r>
                      <a:endParaRPr lang="en-US" sz="11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863600"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sz="2000" b="false">
                          <a:solidFill>
                            <a:srgbClr val="19324D"/>
                          </a:solidFill>
                          <a:ea typeface="Noto Sans CJK JP"/>
                        </a:rPr>
                        <a:t>承認条件</a:t>
                      </a:r>
                      <a:endParaRPr lang="en-US" sz="11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AF2F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sz="2000" b="false">
                          <a:solidFill>
                            <a:srgbClr val="19324D"/>
                          </a:solidFill>
                          <a:ea typeface="Noto Sans CJK JP"/>
                        </a:rPr>
                        <a:t>管理</a:t>
                      </a:r>
                      <a:endParaRPr lang="en-US" sz="11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AF2F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sz="2000" b="false">
                          <a:solidFill>
                            <a:srgbClr val="19324D"/>
                          </a:solidFill>
                          <a:ea typeface="Noto Sans CJK JP"/>
                        </a:rPr>
                        <a:t>再確認</a:t>
                      </a:r>
                      <a:endParaRPr lang="en-US" sz="11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AF2F7"/>
                    </a:solidFill>
                  </a:tcPr>
                </a:tc>
              </a:tr>
              <a:tr h="863600"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sz="2000" b="false">
                          <a:solidFill>
                            <a:srgbClr val="19324D"/>
                          </a:solidFill>
                          <a:ea typeface="Noto Sans CJK JP"/>
                        </a:rPr>
                        <a:t>送信前確認</a:t>
                      </a:r>
                      <a:endParaRPr lang="en-US" sz="11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sz="2000" b="false">
                          <a:solidFill>
                            <a:srgbClr val="19324D"/>
                          </a:solidFill>
                          <a:ea typeface="Noto Sans CJK JP"/>
                        </a:rPr>
                        <a:t>担当者</a:t>
                      </a:r>
                      <a:endParaRPr lang="en-US" sz="11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sz="2000" b="false">
                          <a:solidFill>
                            <a:srgbClr val="19324D"/>
                          </a:solidFill>
                          <a:ea typeface="Noto Sans CJK JP"/>
                        </a:rPr>
                        <a:t>未着手</a:t>
                      </a:r>
                      <a:endParaRPr lang="en-US" sz="11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name="AutoShape 5" id="5"/>
          <p:cNvSpPr/>
          <p:nvPr/>
        </p:nvSpPr>
        <p:spPr>
          <a:xfrm>
            <a:off x="5651500" y="3810000"/>
            <a:ext cx="2476500" cy="850900"/>
          </a:xfrm>
          <a:prstGeom prst="rect">
            <a:avLst/>
          </a:prstGeom>
          <a:noFill/>
          <a:ln w="38100">
            <a:solidFill>
              <a:srgbClr val="CD324A"/>
            </a:solidFill>
          </a:ln>
        </p:spPr>
        <p:txBody>
          <a:bodyPr anchor="ctr" lIns="127000" rIns="127000"/>
          <a:p>
            <a:pPr algn="ctr"/>
            <a:r>
              <a:rPr lang="en-US" sz="1800" b="true">
                <a:solidFill>
                  <a:srgbClr val="CD324A"/>
                </a:solidFill>
                <a:latin typeface="Noto Sans CJK JP"/>
              </a:rPr>
              <a:t/>
            </a:r>
          </a:p>
        </p:txBody>
      </p:sp>
      <p:pic>
        <p:nvPicPr>
          <p:cNvPr name="Picture 6" id="6" descr="表の右下に重なる補足画面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7493000" y="4953000"/>
            <a:ext cx="4000500" cy="2501900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>
            <a:off x="7493000" y="3619500"/>
            <a:ext cx="3810000" cy="838200"/>
          </a:xfrm>
          <a:prstGeom prst="rect">
            <a:avLst/>
          </a:prstGeom>
          <a:solidFill>
            <a:srgbClr val="FFF0F3"/>
          </a:solidFill>
          <a:ln>
            <a:solidFill>
              <a:srgbClr val="CD324A"/>
            </a:solidFill>
          </a:ln>
        </p:spPr>
        <p:txBody>
          <a:bodyPr anchor="ctr" rtlCol="false"/>
          <a:lstStyle/>
          <a:p>
            <a:pPr algn="l">
              <a:defRPr/>
            </a:pPr>
            <a:r>
              <a:rPr lang="en-US" sz="2000" b="true">
                <a:solidFill>
                  <a:srgbClr val="CD324A"/>
                </a:solidFill>
                <a:ea typeface="Noto Sans CJK JP"/>
              </a:rPr>
              <a:t>承認条件を再確認</a:t>
            </a:r>
            <a:endParaRPr lang="ja-JP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  <dc:title>office2md PowerPoint 画像と注釈の合成</dc:title>
</cp:coreProperties>
</file>