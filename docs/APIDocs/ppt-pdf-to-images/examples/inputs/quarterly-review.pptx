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78</c:v>
                </c:pt>
                <c:pt idx="2">
                  <c:v>91</c:v>
                </c:pt>
                <c:pt idx="3">
                  <c:v>108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75</c:v>
                </c:pt>
                <c:pt idx="1">
                  <c:v>94</c:v>
                </c:pt>
                <c:pt idx="2">
                  <c:v>117</c:v>
                </c:pt>
                <c:pt idx="3">
                  <c:v>129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9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9A8C"/>
                </a:solidFill>
                <a:latin typeface="Meiryo"/>
              </a:defRPr>
            </a:pPr>
            <a:r>
              <a:t>CONVERTX2X / 自作の動作確認資料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3247"/>
                </a:solidFill>
                <a:latin typeface="Meiryo"/>
              </a:defRPr>
            </a:pPr>
            <a:r>
              <a:t>事業レポート｜基本レイアウト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9728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B4A"/>
                </a:solidFill>
                <a:latin typeface="Meiryo"/>
              </a:defRPr>
            </a:pPr>
            <a:r>
              <a:t>日本語・英数字・太字・明朝体・埋め込み画像を含む、一般的なスライドです。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10972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263B4A"/>
                </a:solidFill>
                <a:latin typeface="Meiryo"/>
              </a:defRPr>
            </a:pPr>
            <a:r>
              <a:t>サンプルの数値は架空です    •    2026.09    /    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94560"/>
            <a:ext cx="4846320" cy="3749039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43434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3247"/>
                </a:solidFill>
                <a:latin typeface="Meiryo"/>
              </a:defRPr>
            </a:pPr>
            <a:r>
              <a:t>変換で確認するポイント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4343400" cy="2560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63B4A"/>
                </a:solidFill>
                <a:latin typeface="Meiryo"/>
              </a:defRPr>
            </a:pPr>
            <a:r>
              <a:t>01  日本語の見出しと本文</a:t>
            </a:r>
          </a:p>
          <a:p>
            <a:pPr>
              <a:spcAft>
                <a:spcPts val="800"/>
              </a:spcAft>
              <a:defRPr sz="2000" b="0">
                <a:solidFill>
                  <a:srgbClr val="263B4A"/>
                </a:solidFill>
                <a:latin typeface="Meiryo"/>
              </a:defRPr>
            </a:pPr>
            <a:r>
              <a:t>02  Sales 128.6 / +18.4%</a:t>
            </a:r>
          </a:p>
          <a:p>
            <a:pPr>
              <a:spcAft>
                <a:spcPts val="800"/>
              </a:spcAft>
              <a:defRPr sz="2000" b="0">
                <a:solidFill>
                  <a:srgbClr val="263B4A"/>
                </a:solidFill>
                <a:latin typeface="Meiryo"/>
              </a:defRPr>
            </a:pPr>
            <a:r>
              <a:t>03  図形と画像の重なり</a:t>
            </a:r>
          </a:p>
          <a:p>
            <a:pPr>
              <a:spcAft>
                <a:spcPts val="800"/>
              </a:spcAft>
              <a:defRPr sz="2000" b="0">
                <a:solidFill>
                  <a:srgbClr val="263B4A"/>
                </a:solidFill>
                <a:latin typeface="Meiryo"/>
              </a:defRPr>
            </a:pPr>
            <a:r>
              <a:t>04  元のスライド比率 16:9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240280"/>
            <a:ext cx="5760720" cy="2944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7880" y="5394960"/>
            <a:ext cx="54864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43247"/>
                </a:solidFill>
                <a:latin typeface="Yu Mincho"/>
              </a:defRPr>
            </a:pPr>
            <a:r>
              <a:t>成長を支える、毎日の改善。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9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9A8C"/>
                </a:solidFill>
                <a:latin typeface="Meiryo"/>
              </a:defRPr>
            </a:pPr>
            <a:r>
              <a:t>CONVERTX2X / 自作の動作確認資料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3247"/>
                </a:solidFill>
                <a:latin typeface="Meiryo"/>
              </a:defRPr>
            </a:pPr>
            <a:r>
              <a:t>複雑な例｜四半期ダッシュボード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9728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B4A"/>
                </a:solidFill>
                <a:latin typeface="Meiryo"/>
              </a:defRPr>
            </a:pPr>
            <a:r>
              <a:t>ネイティブ表・グラフ・グループ図形・回転・複数の文字スタイルを同じページに配置。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10972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263B4A"/>
                </a:solidFill>
                <a:latin typeface="Meiryo"/>
              </a:defRPr>
            </a:pPr>
            <a:r>
              <a:t>サンプルの数値は架空です    •    2026.09    /  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3337560" cy="1005840"/>
          </a:xfrm>
          <a:prstGeom prst="roundRect">
            <a:avLst/>
          </a:prstGeom>
          <a:solidFill>
            <a:srgbClr val="14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67712"/>
            <a:ext cx="2971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Meiryo"/>
              </a:defRPr>
            </a:pPr>
            <a:r>
              <a:t>売上高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96896"/>
            <a:ext cx="29718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Meiryo"/>
              </a:defRPr>
            </a:pPr>
            <a:r>
              <a:t>128.6 百万円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48840"/>
            <a:ext cx="3337560" cy="1005840"/>
          </a:xfrm>
          <a:prstGeom prst="roundRect">
            <a:avLst/>
          </a:prstGeom>
          <a:solidFill>
            <a:srgbClr val="089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267712"/>
            <a:ext cx="2971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Meiryo"/>
              </a:defRPr>
            </a:pPr>
            <a:r>
              <a:t>計画達成率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96896"/>
            <a:ext cx="29718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Meiryo"/>
              </a:defRPr>
            </a:pPr>
            <a:r>
              <a:t>108.2%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148840"/>
            <a:ext cx="333756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267712"/>
            <a:ext cx="2971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Meiryo"/>
              </a:defRPr>
            </a:pPr>
            <a:r>
              <a:t>継続率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596896"/>
            <a:ext cx="29718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Meiryo"/>
              </a:defRPr>
            </a:pPr>
            <a:r>
              <a:t>96.4%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3474720"/>
          <a:ext cx="5715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エリア</a:t>
                      </a:r>
                    </a:p>
                  </a:txBody>
                  <a:tcPr>
                    <a:solidFill>
                      <a:srgbClr val="1432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売上（百万円）</a:t>
                      </a:r>
                    </a:p>
                  </a:txBody>
                  <a:tcPr>
                    <a:solidFill>
                      <a:srgbClr val="1432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前期比</a:t>
                      </a:r>
                    </a:p>
                  </a:txBody>
                  <a:tcPr>
                    <a:solidFill>
                      <a:srgbClr val="1432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判定</a:t>
                      </a:r>
                    </a:p>
                  </a:txBody>
                  <a:tcPr>
                    <a:solidFill>
                      <a:srgbClr val="14324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B4A"/>
                          </a:solidFill>
                          <a:latin typeface="Meiryo"/>
                        </a:defRPr>
                      </a:pPr>
                      <a:r>
                        <a:t>東京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B4A"/>
                          </a:solidFill>
                          <a:latin typeface="Meiryo"/>
                        </a:defRPr>
                      </a:pPr>
                      <a:r>
                        <a:t>51.4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B4A"/>
                          </a:solidFill>
                          <a:latin typeface="Meiryo"/>
                        </a:defRPr>
                      </a:pPr>
                      <a:r>
                        <a:t>+14.2%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B4A"/>
                          </a:solidFill>
                          <a:latin typeface="Meiryo"/>
                        </a:defRPr>
                      </a:pPr>
                      <a:r>
                        <a:t>順調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B4A"/>
                          </a:solidFill>
                          <a:latin typeface="Meiryo"/>
                        </a:defRPr>
                      </a:pPr>
                      <a:r>
                        <a:t>大阪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B4A"/>
                          </a:solidFill>
                          <a:latin typeface="Meiryo"/>
                        </a:defRPr>
                      </a:pPr>
                      <a:r>
                        <a:t>32.8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B4A"/>
                          </a:solidFill>
                          <a:latin typeface="Meiryo"/>
                        </a:defRPr>
                      </a:pPr>
                      <a:r>
                        <a:t>+21.7%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B4A"/>
                          </a:solidFill>
                          <a:latin typeface="Meiryo"/>
                        </a:defRPr>
                      </a:pPr>
                      <a:r>
                        <a:t>順調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B4A"/>
                          </a:solidFill>
                          <a:latin typeface="Meiryo"/>
                        </a:defRPr>
                      </a:pPr>
                      <a:r>
                        <a:t>福岡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B4A"/>
                          </a:solidFill>
                          <a:latin typeface="Meiryo"/>
                        </a:defRPr>
                      </a:pPr>
                      <a:r>
                        <a:t>24.6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B4A"/>
                          </a:solidFill>
                          <a:latin typeface="Meiryo"/>
                        </a:defRPr>
                      </a:pPr>
                      <a:r>
                        <a:t>+18.5%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B4A"/>
                          </a:solidFill>
                          <a:latin typeface="Meiryo"/>
                        </a:defRPr>
                      </a:pPr>
                      <a:r>
                        <a:t>確認中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B4A"/>
                          </a:solidFill>
                          <a:latin typeface="Meiryo"/>
                        </a:defRPr>
                      </a:pPr>
                      <a:r>
                        <a:t>札幌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B4A"/>
                          </a:solidFill>
                          <a:latin typeface="Meiryo"/>
                        </a:defRPr>
                      </a:pPr>
                      <a:r>
                        <a:t>19.8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B4A"/>
                          </a:solidFill>
                          <a:latin typeface="Meiryo"/>
                        </a:defRPr>
                      </a:pPr>
                      <a:r>
                        <a:t>+20.1%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B4A"/>
                          </a:solidFill>
                          <a:latin typeface="Meiryo"/>
                        </a:defRPr>
                      </a:pPr>
                      <a:r>
                        <a:t>順調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63B4A"/>
                          </a:solidFill>
                          <a:latin typeface="Meiryo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E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63B4A"/>
                          </a:solidFill>
                          <a:latin typeface="Meiryo"/>
                        </a:defRPr>
                      </a:pPr>
                      <a:r>
                        <a:t>128.6</a:t>
                      </a:r>
                    </a:p>
                  </a:txBody>
                  <a:tcPr>
                    <a:solidFill>
                      <a:srgbClr val="E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63B4A"/>
                          </a:solidFill>
                          <a:latin typeface="Meiryo"/>
                        </a:defRPr>
                      </a:pPr>
                      <a:r>
                        <a:t>+18.4%</a:t>
                      </a:r>
                    </a:p>
                  </a:txBody>
                  <a:tcPr>
                    <a:solidFill>
                      <a:srgbClr val="E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63B4A"/>
                          </a:solidFill>
                          <a:latin typeface="Meiryo"/>
                        </a:defRPr>
                      </a:pPr>
                      <a:r>
                        <a:t>計画超過</a:t>
                      </a:r>
                    </a:p>
                  </a:txBody>
                  <a:tcPr>
                    <a:solidFill>
                      <a:srgbClr val="E8F5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583680" y="3474720"/>
          <a:ext cx="324612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565392" y="5852160"/>
            <a:ext cx="384048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263B4A"/>
                </a:solidFill>
                <a:latin typeface="Meiryo"/>
              </a:defRPr>
            </a:pPr>
            <a:r>
              <a:t>PowerPointのネイティブグラフ</a:t>
            </a:r>
          </a:p>
        </p:txBody>
      </p:sp>
      <p:grpSp>
        <p:nvGrpSpPr>
          <p:cNvPr id="19" name="Group 18"/>
          <p:cNvGrpSpPr/>
          <p:nvPr/>
        </p:nvGrpSpPr>
        <p:grpSpPr>
          <a:xfrm rot="720000">
            <a:off x="10058400" y="3794760"/>
            <a:ext cx="1371600" cy="1051560"/>
            <a:chOff x="10058400" y="3794760"/>
            <a:chExt cx="1371600" cy="1051560"/>
          </a:xfrm>
        </p:grpSpPr>
        <p:sp>
          <p:nvSpPr>
            <p:cNvPr id="20" name="Hexagon 19"/>
            <p:cNvSpPr/>
            <p:nvPr/>
          </p:nvSpPr>
          <p:spPr>
            <a:xfrm>
              <a:off x="10058400" y="3794760"/>
              <a:ext cx="1371600" cy="1051560"/>
            </a:xfrm>
            <a:prstGeom prst="hexagon">
              <a:avLst/>
            </a:prstGeom>
            <a:solidFill>
              <a:srgbClr val="FBBF2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113264" y="4096512"/>
              <a:ext cx="1261872" cy="320040"/>
            </a:xfrm>
            <a:prstGeom prst="rect">
              <a:avLst/>
            </a:prstGeom>
            <a:noFill/>
          </p:spPr>
          <p:txBody>
            <a:bodyPr wrap="square" lIns="18288" rIns="18288">
              <a:spAutoFit/>
            </a:bodyPr>
            <a:lstStyle/>
            <a:p>
              <a:pPr>
                <a:spcAft>
                  <a:spcPts val="800"/>
                </a:spcAft>
                <a:defRPr sz="1300" b="1">
                  <a:solidFill>
                    <a:srgbClr val="143247"/>
                  </a:solidFill>
                  <a:latin typeface="Meiryo"/>
                </a:defRPr>
              </a:pPr>
              <a:r>
                <a:t>重点施策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 rot="720000">
            <a:off x="10058400" y="5212080"/>
            <a:ext cx="164592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9A8C"/>
                </a:solidFill>
                <a:latin typeface="Meiryo"/>
              </a:defRPr>
            </a:pPr>
            <a:r>
              <a:t>回転 12°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9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9A8C"/>
                </a:solidFill>
                <a:latin typeface="Meiryo"/>
              </a:defRPr>
            </a:pPr>
            <a:r>
              <a:t>CONVERTX2X / 自作の動作確認資料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3247"/>
                </a:solidFill>
                <a:latin typeface="Meiryo"/>
              </a:defRPr>
            </a:pPr>
            <a:r>
              <a:t>複雑な例｜業務フローと注記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9728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63B4A"/>
                </a:solidFill>
                <a:latin typeface="Meiryo"/>
              </a:defRPr>
            </a:pPr>
            <a:r>
              <a:t>図形の形・回転・位置関係と、小さな注記の可読性を確認します。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10972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263B4A"/>
                </a:solidFill>
                <a:latin typeface="Meiryo"/>
              </a:defRPr>
            </a:pPr>
            <a:r>
              <a:t>サンプルの数値は架空です    •    2026.09    /  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3246120" cy="13716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278892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Meiryo"/>
              </a:defRPr>
            </a:pPr>
            <a:r>
              <a:t>依頼を受信</a:t>
            </a:r>
          </a:p>
        </p:txBody>
      </p:sp>
      <p:sp>
        <p:nvSpPr>
          <p:cNvPr id="9" name="Chevron 8"/>
          <p:cNvSpPr/>
          <p:nvPr/>
        </p:nvSpPr>
        <p:spPr>
          <a:xfrm>
            <a:off x="4023360" y="2971800"/>
            <a:ext cx="292608" cy="411480"/>
          </a:xfrm>
          <a:prstGeom prst="chevron">
            <a:avLst/>
          </a:prstGeom>
          <a:solidFill>
            <a:srgbClr val="8D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2514600"/>
            <a:ext cx="3246120" cy="1371600"/>
          </a:xfrm>
          <a:prstGeom prst="roundRect">
            <a:avLst/>
          </a:prstGeom>
          <a:solidFill>
            <a:srgbClr val="089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944368"/>
            <a:ext cx="278892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Meiryo"/>
              </a:defRPr>
            </a:pPr>
            <a:r>
              <a:t>内容を検証</a:t>
            </a:r>
          </a:p>
        </p:txBody>
      </p:sp>
      <p:sp>
        <p:nvSpPr>
          <p:cNvPr id="12" name="Chevron 11"/>
          <p:cNvSpPr/>
          <p:nvPr/>
        </p:nvSpPr>
        <p:spPr>
          <a:xfrm>
            <a:off x="7726679" y="2971800"/>
            <a:ext cx="292608" cy="411480"/>
          </a:xfrm>
          <a:prstGeom prst="chevron">
            <a:avLst/>
          </a:prstGeom>
          <a:solidFill>
            <a:srgbClr val="8D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2514600"/>
            <a:ext cx="3246120" cy="1371600"/>
          </a:xfrm>
          <a:prstGeom prst="roundRect">
            <a:avLst/>
          </a:prstGeom>
          <a:solidFill>
            <a:srgbClr val="14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944368"/>
            <a:ext cx="278892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Meiryo"/>
              </a:defRPr>
            </a:pPr>
            <a:r>
              <a:t>結果を保存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389120"/>
            <a:ext cx="10652760" cy="150876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599432"/>
            <a:ext cx="182880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3247"/>
                </a:solidFill>
                <a:latin typeface="Meiryo"/>
              </a:defRPr>
            </a:pPr>
            <a:r>
              <a:t>確認メモ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074920"/>
            <a:ext cx="996696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B4A"/>
                </a:solidFill>
                <a:latin typeface="Meiryo"/>
              </a:defRPr>
            </a:pPr>
            <a:r>
              <a:t>・2枚目の棒グラフは画像ではなく、PowerPointのグラフオブジェクトです。</a:t>
            </a:r>
          </a:p>
          <a:p>
            <a:pPr>
              <a:spcAft>
                <a:spcPts val="800"/>
              </a:spcAft>
              <a:defRPr sz="1300" b="0">
                <a:solidFill>
                  <a:srgbClr val="263B4A"/>
                </a:solidFill>
                <a:latin typeface="Meiryo"/>
              </a:defRPr>
            </a:pPr>
            <a:r>
              <a:t>・日本語は同梱フォントへ代替されるため、字幅や折り返しは元のOfficeと異なる場合があります。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