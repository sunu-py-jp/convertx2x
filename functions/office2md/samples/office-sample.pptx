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1"/>
    <p:sldId id="259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smtClean="0"/>
              <a:t>Click to edit Master text styles</a:t>
            </a:r>
          </a:p>
          <a:p>
            <a:pPr marL="457200"/>
            <a:r>
              <a:rPr lang="en-US" smtClean="0"/>
              <a:t>Second level</a:t>
            </a:r>
          </a:p>
          <a:p>
            <a:pPr marL="914400"/>
            <a:r>
              <a:rPr lang="en-US" smtClean="0"/>
              <a:t>Third level</a:t>
            </a:r>
          </a:p>
          <a:p>
            <a:pPr marL="1371600"/>
            <a:r>
              <a:rPr lang="en-US" smtClean="0"/>
              <a:t>Fourth level</a:t>
            </a:r>
          </a:p>
          <a:p>
            <a:pPr marL="1828800"/>
            <a:r>
              <a:rPr lang="en-US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ノートは出力しない</a:t>
            </a:r>
            <a:endParaRPr lang="ja-JP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example.com/reference" TargetMode="External" Type="http://schemas.openxmlformats.org/officeDocument/2006/relationships/hyperlink"/><Relationship Id="rId3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example.com/input" TargetMode="External" Type="http://schemas.openxmlformats.org/officeDocument/2006/relationships/hyperlink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>
            <p:ph type="title"/>
          </p:nvPr>
        </p:nvSpPr>
        <p:spPr>
          <a:xfrm>
            <a:off x="508000" y="317500"/>
            <a:ext cx="11176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3200"/>
              <a:t>PowerPointからMarkdownへ</a:t>
            </a:r>
            <a:endParaRPr lang="ja-JP"/>
          </a:p>
        </p:txBody>
      </p:sp>
      <p:sp>
        <p:nvSpPr>
          <p:cNvPr name="TextBox 3" id="3"/>
          <p:cNvSpPr txBox="true"/>
          <p:nvPr/>
        </p:nvSpPr>
        <p:spPr>
          <a:xfrm>
            <a:off x="508000" y="1270000"/>
            <a:ext cx="1079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2400"/>
              <a:t>日本語の本文・箇条書き・表・図・画像の実変換サンプルです。</a:t>
            </a:r>
            <a:endParaRPr lang="ja-JP"/>
          </a:p>
        </p:txBody>
      </p:sp>
      <p:sp>
        <p:nvSpPr>
          <p:cNvPr name="TextBox 4" id="4"/>
          <p:cNvSpPr txBox="true"/>
          <p:nvPr/>
        </p:nvSpPr>
        <p:spPr>
          <a:xfrm>
            <a:off x="508000" y="2286000"/>
            <a:ext cx="9525000" cy="254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buAutoNum type="arabicPeriod" startAt="3"/>
              <a:defRPr/>
            </a:pPr>
            <a:r>
              <a:rPr lang="en-US" sz="2400"/>
              <a:t>保存した番号を保つ</a:t>
            </a:r>
            <a:endParaRPr lang="ja-JP"/>
          </a:p>
          <a:p>
            <a:pPr>
              <a:buAutoNum type="arabicPeriod" startAt="4"/>
            </a:pPr>
            <a:r>
              <a:rPr lang="en-US"/>
              <a:t>外部コンテンツを取得しない</a:t>
            </a:r>
          </a:p>
          <a:p>
            <a:pPr>
              <a:buFont typeface="Arial"/>
              <a:buChar char="•"/>
            </a:pPr>
            <a:r>
              <a:rPr lang="en-US"/>
              <a:t>日本語と English ABC123 を保持</a:t>
            </a:r>
            <a:r>
              <a:rPr lang="en-US" strike="sngStrike"/>
              <a:t>削除対象の本文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508000" y="5080000"/>
            <a:ext cx="4445000" cy="635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2400">
                <a:hlinkClick r:id="rId2" tooltip="https://example.com/reference"/>
              </a:rPr>
              <a:t>資料へのリンク</a:t>
            </a:r>
            <a:endParaRPr lang="ja-JP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>
            <p:ph type="title"/>
          </p:nvPr>
        </p:nvSpPr>
        <p:spPr>
          <a:xfrm>
            <a:off x="508000" y="317500"/>
            <a:ext cx="11176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3200"/>
              <a:t>罫線なしの表もMarkdown表に</a:t>
            </a:r>
            <a:endParaRPr lang="ja-JP"/>
          </a:p>
        </p:txBody>
      </p:sp>
      <p:graphicFrame>
        <p:nvGraphicFramePr>
          <p:cNvPr name="Table 3" id="3"/>
          <p:cNvGraphicFramePr>
            <a:graphicFrameLocks noGrp="true"/>
          </p:cNvGraphicFramePr>
          <p:nvPr/>
        </p:nvGraphicFramePr>
        <p:xfrm>
          <a:off x="508000" y="1524000"/>
          <a:ext cx="11049000" cy="3556000"/>
        </p:xfrm>
        <a:graphic>
          <a:graphicData uri="http://schemas.openxmlformats.org/drawingml/2006/table">
            <a:tbl>
              <a:tblPr/>
              <a:tblGrid>
                <a:gridCol w="3683000"/>
                <a:gridCol w="3683000"/>
                <a:gridCol w="3683000"/>
              </a:tblGrid>
              <a:tr h="762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担当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内容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状態</a:t>
                      </a:r>
                      <a:endParaRPr lang="en-US" sz="1100"/>
                    </a:p>
                  </a:txBody>
                  <a:tcPr/>
                </a:tc>
              </a:tr>
              <a:tr h="762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開発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日本語と保存済み書式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完了</a:t>
                      </a:r>
                      <a:endParaRPr lang="en-US" sz="1100"/>
                    </a:p>
                  </a:txBody>
                  <a:tcPr/>
                </a:tc>
              </a:tr>
              <a:tr h="762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検証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入力ファイルから実際に変換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実施中</a:t>
                      </a:r>
                      <a:endParaRPr lang="en-US" sz="1100"/>
                    </a:p>
                  </a:txBody>
                  <a:tcPr/>
                </a:tc>
              </a:tr>
              <a:tr h="762000">
                <a:tc gridSpan="3"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>結合セルは開始セルだけに残す</a:t>
                      </a:r>
                      <a:endParaRPr lang="en-US" sz="1100"/>
                    </a:p>
                  </a:txBody>
                  <a:tcPr/>
                </a:tc>
                <a:tc hMerge="true"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/>
                      </a:r>
                      <a:endParaRPr lang="en-US" sz="1100"/>
                    </a:p>
                  </a:txBody>
                  <a:tcPr/>
                </a:tc>
                <a:tc hMerge="true"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 sz="2200"/>
                        <a:t/>
                      </a:r>
                      <a:endParaRPr lang="en-US" sz="11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>
            <p:ph type="title"/>
          </p:nvPr>
        </p:nvSpPr>
        <p:spPr>
          <a:xfrm>
            <a:off x="508000" y="317500"/>
            <a:ext cx="11176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3200"/>
              <a:t>図は画像と説明文として残す</a:t>
            </a:r>
            <a:endParaRPr lang="ja-JP"/>
          </a:p>
        </p:txBody>
      </p:sp>
      <p:grpSp>
        <p:nvGrpSpPr>
          <p:cNvPr name="Group 3" id="3"/>
          <p:cNvGrpSpPr/>
          <p:nvPr/>
        </p:nvGrpSpPr>
        <p:grpSpPr>
          <a:xfrm>
            <a:off x="762000" y="1651000"/>
            <a:ext cx="10160000" cy="2921000"/>
            <a:chOff x="0" y="0"/>
            <a:chExt cx="10160000" cy="2921000"/>
          </a:xfrm>
        </p:grpSpPr>
        <p:sp>
          <p:nvSpPr>
            <p:cNvPr name="AutoShape 4" id="4"/>
            <p:cNvSpPr/>
            <p:nvPr/>
          </p:nvSpPr>
          <p:spPr>
            <a:xfrm rot="300000">
              <a:off x="0" y="508000"/>
              <a:ext cx="3556000" cy="1778000"/>
            </a:xfrm>
            <a:prstGeom prst="roundRect">
              <a:avLst/>
            </a:prstGeom>
            <a:solidFill>
              <a:srgbClr val="E1E8FF"/>
            </a:solidFill>
          </p:spPr>
          <p:txBody>
            <a:bodyPr anchor="t" rtlCol="false"/>
            <a:lstStyle/>
            <a:p>
              <a:pPr algn="l">
                <a:defRPr/>
              </a:pPr>
              <a:r>
                <a:rPr lang="en-US" sz="2800">
                  <a:hlinkClick r:id="rId2" tooltip="https://example.com/input"/>
                </a:rPr>
                <a:t>入力ファイル</a:t>
              </a:r>
              <a:r>
                <a:rPr lang="en-US" strike="sngStrike"/>
                <a:t>取消線の秘密</a:t>
              </a:r>
              <a:endParaRPr lang="en-US" sz="1100"/>
            </a:p>
          </p:txBody>
        </p:sp>
        <p:sp>
          <p:nvSpPr>
            <p:cNvPr name="AutoShape 5" id="5"/>
            <p:cNvSpPr/>
            <p:nvPr/>
          </p:nvSpPr>
          <p:spPr>
            <a:xfrm>
              <a:off x="6096000" y="508000"/>
              <a:ext cx="3556000" cy="1778000"/>
            </a:xfrm>
            <a:prstGeom prst="ellipse">
              <a:avLst/>
            </a:prstGeom>
            <a:solidFill>
              <a:srgbClr val="EBDEFF"/>
            </a:solidFill>
          </p:spPr>
          <p:txBody>
            <a:bodyPr anchor="t" rtlCol="false"/>
            <a:lstStyle/>
            <a:p>
              <a:pPr algn="l">
                <a:defRPr/>
              </a:pPr>
              <a:r>
                <a:rPr lang="en-US" sz="2600"/>
                <a:t>Markdownと画像</a:t>
              </a:r>
              <a:endParaRPr lang="en-US" sz="1100"/>
            </a:p>
          </p:txBody>
        </p:sp>
        <p:cxnSp>
          <p:nvCxnSpPr>
            <p:cNvPr name="Connector 6" id="6"/>
            <p:cNvCxnSpPr/>
            <p:nvPr/>
          </p:nvCxnSpPr>
          <p:spPr>
            <a:xfrm>
              <a:off x="3556000" y="1397000"/>
              <a:ext cx="2540000" cy="0"/>
            </a:xfrm>
            <a:prstGeom prst="line">
              <a:avLst/>
            </a:prstGeom>
            <a:ln w="38100">
              <a:solidFill>
                <a:srgbClr val="322864"/>
              </a:solidFill>
            </a:ln>
          </p:spPr>
        </p:cxnSp>
        <p:sp>
          <p:nvSpPr>
            <p:cNvPr name="TextBox 7" id="7" hidden="true"/>
            <p:cNvSpPr txBox="true"/>
            <p:nvPr/>
          </p:nvSpPr>
          <p:spPr>
            <a:xfrm>
              <a:off x="3810000" y="127000"/>
              <a:ext cx="2540000" cy="508000"/>
            </a:xfrm>
            <a:prstGeom prst="rect">
              <a:avLst/>
            </a:prstGeom>
          </p:spPr>
          <p:txBody>
            <a:bodyPr anchor="t" rtlCol="false"/>
            <a:lstStyle/>
            <a:p>
              <a:pPr algn="l">
                <a:defRPr/>
              </a:pPr>
              <a:r>
                <a:rPr lang="en-US"/>
                <a:t>非表示の秘密</a:t>
              </a:r>
              <a:endParaRPr lang="ja-JP"/>
            </a:p>
          </p:txBody>
        </p:sp>
      </p:grpSp>
      <p:sp>
        <p:nvSpPr>
          <p:cNvPr name="TextBox 8" id="8"/>
          <p:cNvSpPr txBox="true"/>
          <p:nvPr/>
        </p:nvSpPr>
        <p:spPr>
          <a:xfrm>
            <a:off x="635000" y="5207000"/>
            <a:ext cx="10922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2400"/>
              <a:t>図内の文字は画像説明に含め、本文に重ねて出力しません。</a:t>
            </a:r>
            <a:endParaRPr lang="ja-JP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>
            <p:ph type="title"/>
          </p:nvPr>
        </p:nvSpPr>
        <p:spPr>
          <a:xfrm>
            <a:off x="508000" y="317500"/>
            <a:ext cx="11176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3200"/>
              <a:t>保存済みの埋め込み画像</a:t>
            </a:r>
            <a:endParaRPr lang="ja-JP"/>
          </a:p>
        </p:txBody>
      </p:sp>
      <p:pic>
        <p:nvPicPr>
          <p:cNvPr name="Picture 3" id="3" descr="紺色背景と紫色の円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1651000"/>
            <a:ext cx="812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show="fals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>
            <p:ph type="title"/>
          </p:nvPr>
        </p:nvSpPr>
        <p:spPr>
          <a:xfrm>
            <a:off x="508000" y="317500"/>
            <a:ext cx="11176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sz="3200"/>
              <a:t>非表示のスライドは出力しない</a:t>
            </a:r>
            <a:endParaRPr lang="ja-JP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