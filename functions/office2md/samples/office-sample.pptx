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mtClean="0"/>
              <a:t>Click to edit Master text styles</a:t>
            </a:r>
          </a:p>
          <a:p>
            <a:pPr marL="457200"/>
            <a:r>
              <a:rPr lang="en-US" smtClean="0"/>
              <a:t>Second level</a:t>
            </a:r>
          </a:p>
          <a:p>
            <a:pPr marL="914400"/>
            <a:r>
              <a:rPr lang="en-US" smtClean="0"/>
              <a:t>Third level</a:t>
            </a:r>
          </a:p>
          <a:p>
            <a:pPr marL="1371600"/>
            <a:r>
              <a:rPr lang="en-US" smtClean="0"/>
              <a:t>Fourth level</a:t>
            </a:r>
          </a:p>
          <a:p>
            <a:pPr marL="1828800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ノートは出力しない</a:t>
            </a:r>
            <a:endParaRPr lang="ja-JP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xample.com/reference" TargetMode="External" Type="http://schemas.openxmlformats.org/officeDocument/2006/relationships/hyperlink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xample.com/input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PowerPointからMarkdownへ</a:t>
            </a:r>
            <a:endParaRPr lang="ja-JP"/>
          </a:p>
        </p:txBody>
      </p:sp>
      <p:sp>
        <p:nvSpPr>
          <p:cNvPr name="TextBox 3" id="3"/>
          <p:cNvSpPr txBox="true"/>
          <p:nvPr/>
        </p:nvSpPr>
        <p:spPr>
          <a:xfrm>
            <a:off x="508000" y="1270000"/>
            <a:ext cx="1079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400"/>
              <a:t>日本語の本文・箇条書き・表・図・画像の実変換サンプルです。</a:t>
            </a:r>
            <a:endParaRPr lang="ja-JP"/>
          </a:p>
        </p:txBody>
      </p:sp>
      <p:sp>
        <p:nvSpPr>
          <p:cNvPr name="TextBox 4" id="4"/>
          <p:cNvSpPr txBox="true"/>
          <p:nvPr/>
        </p:nvSpPr>
        <p:spPr>
          <a:xfrm>
            <a:off x="508000" y="2286000"/>
            <a:ext cx="9525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buAutoNum type="arabicPeriod" startAt="3"/>
              <a:defRPr/>
            </a:pPr>
            <a:r>
              <a:rPr lang="en-US" sz="2400"/>
              <a:t>保存した番号を保つ</a:t>
            </a:r>
            <a:endParaRPr lang="ja-JP"/>
          </a:p>
          <a:p>
            <a:pPr>
              <a:buAutoNum type="arabicPeriod" startAt="4"/>
            </a:pPr>
            <a:r>
              <a:rPr lang="en-US"/>
              <a:t>外部コンテンツを取得しない</a:t>
            </a:r>
          </a:p>
          <a:p>
            <a:pPr>
              <a:buFont typeface="Arial"/>
              <a:buChar char="•"/>
            </a:pPr>
            <a:r>
              <a:rPr lang="en-US"/>
              <a:t>日本語と English ABC123 を保持</a:t>
            </a:r>
            <a:r>
              <a:rPr lang="en-US" strike="sngStrike"/>
              <a:t>削除対象の本文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508000" y="5080000"/>
            <a:ext cx="4445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400">
                <a:hlinkClick r:id="rId2" tooltip="https://example.com/reference"/>
              </a:rPr>
              <a:t>資料へのリンク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罫線なしの表もMarkdown表に</a:t>
            </a:r>
            <a:endParaRPr lang="ja-JP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08000" y="1524000"/>
          <a:ext cx="11049000" cy="3556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担当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内容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状態</a:t>
                      </a:r>
                      <a:endParaRPr lang="en-US" sz="1100"/>
                    </a:p>
                  </a:txBody>
                  <a:tcPr/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開発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日本語と保存済み書式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完了</a:t>
                      </a:r>
                      <a:endParaRPr lang="en-US" sz="1100"/>
                    </a:p>
                  </a:txBody>
                  <a:tcPr/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検証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入力ファイルから実際に変換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実施中</a:t>
                      </a:r>
                      <a:endParaRPr lang="en-US" sz="1100"/>
                    </a:p>
                  </a:txBody>
                  <a:tcPr/>
                </a:tc>
              </a:tr>
              <a:tr h="762000">
                <a:tc gridSpan="3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>結合セルは開始セルだけに残す</a:t>
                      </a:r>
                      <a:endParaRPr lang="en-US" sz="1100"/>
                    </a:p>
                  </a:txBody>
                  <a:tcPr/>
                </a:tc>
                <a:tc h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/>
                      </a:r>
                      <a:endParaRPr lang="en-US" sz="1100"/>
                    </a:p>
                  </a:txBody>
                  <a:tcPr/>
                </a:tc>
                <a:tc h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200"/>
                        <a:t/>
                      </a:r>
                      <a:endParaRPr lang="en-US" sz="11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図中の文字を検索可能な本文へ</a:t>
            </a:r>
            <a:endParaRPr lang="ja-JP"/>
          </a:p>
        </p:txBody>
      </p:sp>
      <p:grpSp>
        <p:nvGrpSpPr>
          <p:cNvPr name="Group 3" id="3"/>
          <p:cNvGrpSpPr/>
          <p:nvPr/>
        </p:nvGrpSpPr>
        <p:grpSpPr>
          <a:xfrm>
            <a:off x="762000" y="1651000"/>
            <a:ext cx="10160000" cy="2921000"/>
            <a:chOff x="0" y="0"/>
            <a:chExt cx="10160000" cy="2921000"/>
          </a:xfrm>
        </p:grpSpPr>
        <p:sp>
          <p:nvSpPr>
            <p:cNvPr name="AutoShape 4" id="4"/>
            <p:cNvSpPr/>
            <p:nvPr/>
          </p:nvSpPr>
          <p:spPr>
            <a:xfrm rot="300000">
              <a:off x="0" y="508000"/>
              <a:ext cx="3556000" cy="1778000"/>
            </a:xfrm>
            <a:prstGeom prst="roundRect">
              <a:avLst/>
            </a:prstGeom>
            <a:solidFill>
              <a:srgbClr val="E1E8FF"/>
            </a:solidFill>
          </p:spPr>
          <p:txBody>
            <a:bodyPr anchor="t" rtlCol="false"/>
            <a:lstStyle/>
            <a:p>
              <a:pPr algn="l">
                <a:defRPr/>
              </a:pPr>
              <a:r>
                <a:rPr lang="en-US" sz="2800">
                  <a:hlinkClick r:id="rId2" tooltip="https://example.com/input"/>
                </a:rPr>
                <a:t>入力ファイル</a:t>
              </a:r>
              <a:r>
                <a:rPr lang="en-US" strike="sngStrike"/>
                <a:t>取消線の秘密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6096000" y="508000"/>
              <a:ext cx="3556000" cy="1778000"/>
            </a:xfrm>
            <a:prstGeom prst="ellipse">
              <a:avLst/>
            </a:prstGeom>
            <a:solidFill>
              <a:srgbClr val="EBDEFF"/>
            </a:solidFill>
          </p:spPr>
          <p:txBody>
            <a:bodyPr anchor="t" rtlCol="false"/>
            <a:lstStyle/>
            <a:p>
              <a:pPr algn="l">
                <a:defRPr/>
              </a:pPr>
              <a:r>
                <a:rPr lang="en-US" sz="2600"/>
                <a:t>Markdownと画像</a:t>
              </a:r>
              <a:endParaRPr lang="en-US" sz="1100"/>
            </a:p>
          </p:txBody>
        </p:sp>
        <p:cxnSp>
          <p:nvCxnSpPr>
            <p:cNvPr name="Connector 6" id="6"/>
            <p:cNvCxnSpPr/>
            <p:nvPr/>
          </p:nvCxnSpPr>
          <p:spPr>
            <a:xfrm>
              <a:off x="3556000" y="1397000"/>
              <a:ext cx="2540000" cy="0"/>
            </a:xfrm>
            <a:prstGeom prst="line">
              <a:avLst/>
            </a:prstGeom>
            <a:ln w="38100">
              <a:solidFill>
                <a:srgbClr val="322864"/>
              </a:solidFill>
            </a:ln>
          </p:spPr>
        </p:cxnSp>
        <p:sp>
          <p:nvSpPr>
            <p:cNvPr name="TextBox 7" id="7" hidden="true"/>
            <p:cNvSpPr txBox="true"/>
            <p:nvPr/>
          </p:nvSpPr>
          <p:spPr>
            <a:xfrm>
              <a:off x="3810000" y="127000"/>
              <a:ext cx="2540000" cy="508000"/>
            </a:xfrm>
            <a:prstGeom prst="rect">
              <a:avLst/>
            </a:prstGeom>
          </p:spPr>
          <p:txBody>
            <a:bodyPr anchor="t" rtlCol="false"/>
            <a:lstStyle/>
            <a:p>
              <a:pPr algn="l">
                <a:defRPr/>
              </a:pPr>
              <a:r>
                <a:rPr lang="en-US"/>
                <a:t>非表示の秘密</a:t>
              </a:r>
              <a:endParaRPr lang="ja-JP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635000" y="5207000"/>
            <a:ext cx="10922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400"/>
              <a:t>図内の文字は本文へ。接続先が保存されていない線の関係は推測しません。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保存済みの埋め込み画像</a:t>
            </a:r>
            <a:endParaRPr lang="ja-JP"/>
          </a:p>
        </p:txBody>
      </p:sp>
      <p:pic>
        <p:nvPicPr>
          <p:cNvPr name="Picture 3" id="3" descr="紺色背景と紫色の円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8128000" cy="4572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9334500" y="1905000"/>
            <a:ext cx="2413000" cy="355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900"/>
              <a:t>画像は埋め込みデータを参照し、代替説明も残します。</a:t>
            </a:r>
            <a:endParaRPr lang="ja-JP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条件別の対応を表で比較</a:t>
            </a:r>
            <a:endParaRPr lang="ja-JP"/>
          </a:p>
        </p:txBody>
      </p:sp>
      <p:sp>
        <p:nvSpPr>
          <p:cNvPr name="TextBox 3" id="3"/>
          <p:cNvSpPr txBox="true"/>
          <p:nvPr/>
        </p:nvSpPr>
        <p:spPr>
          <a:xfrm>
            <a:off x="508000" y="1143000"/>
            <a:ext cx="11049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000"/>
              <a:t>区分・条件・担当・処理を1行ずつ対応付けます。結合行の値は開始セルに保持します。</a:t>
            </a:r>
            <a:endParaRPr lang="ja-JP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905000"/>
          <a:ext cx="11049000" cy="3492500"/>
        </p:xfrm>
        <a:graphic>
          <a:graphicData uri="http://schemas.openxmlformats.org/drawingml/2006/table">
            <a:tbl>
              <a:tblPr/>
              <a:tblGrid>
                <a:gridCol w="2667000"/>
                <a:gridCol w="3048000"/>
                <a:gridCol w="2667000"/>
                <a:gridCol w="2667000"/>
              </a:tblGrid>
              <a:tr h="698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区分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条件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担当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処理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2"/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通常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資料あり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受付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当日確認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差戻し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添付不足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申請者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再提出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8500">
                <a:tc gridSpan="2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共通の補足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/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管理者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期限は営業日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例外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期限超過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責任者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/>
                        <a:t>翌朝判断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571500" y="5778500"/>
            <a:ext cx="10795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000"/>
              <a:t>補足：差戻し後は同じ申請番号で再判定します。</a:t>
            </a:r>
            <a:endParaRPr lang="ja-JP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レビュー経路の図形と補足</a:t>
            </a:r>
            <a:endParaRPr lang="ja-JP"/>
          </a:p>
        </p:txBody>
      </p:sp>
      <p:grpSp>
        <p:nvGrpSpPr>
          <p:cNvPr name="Group 3" id="3"/>
          <p:cNvGrpSpPr/>
          <p:nvPr/>
        </p:nvGrpSpPr>
        <p:grpSpPr>
          <a:xfrm>
            <a:off x="762000" y="1651000"/>
            <a:ext cx="10541000" cy="3175000"/>
            <a:chOff x="0" y="0"/>
            <a:chExt cx="10541000" cy="3175000"/>
          </a:xfrm>
        </p:grpSpPr>
        <p:sp>
          <p:nvSpPr>
            <p:cNvPr name="AutoShape 4" id="4"/>
            <p:cNvSpPr/>
            <p:nvPr/>
          </p:nvSpPr>
          <p:spPr>
            <a:xfrm>
              <a:off x="0" y="698500"/>
              <a:ext cx="2667000" cy="1651000"/>
            </a:xfrm>
            <a:prstGeom prst="roundRect">
              <a:avLst/>
            </a:prstGeom>
            <a:solidFill>
              <a:srgbClr val="DCEFFF"/>
            </a:solidFill>
          </p:spPr>
          <p:txBody>
            <a:bodyPr anchor="t" rtlCol="false"/>
            <a:lstStyle/>
            <a:p>
              <a:pPr algn="l">
                <a:defRPr/>
              </a:pPr>
              <a:r>
                <a:rPr lang="en-US" sz="2600"/>
                <a:t>申請を受付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3937000" y="381000"/>
              <a:ext cx="2413000" cy="2286000"/>
            </a:xfrm>
            <a:prstGeom prst="diamond">
              <a:avLst/>
            </a:prstGeom>
            <a:solidFill>
              <a:srgbClr val="FFEFD1"/>
            </a:solidFill>
          </p:spPr>
          <p:txBody>
            <a:bodyPr anchor="t" rtlCol="false"/>
            <a:lstStyle/>
            <a:p>
              <a:pPr algn="l">
                <a:defRPr/>
              </a:pPr>
              <a:r>
                <a:rPr lang="en-US" sz="2400"/>
                <a:t>資料を確認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>
              <a:off x="7747000" y="698500"/>
              <a:ext cx="2667000" cy="1651000"/>
            </a:xfrm>
            <a:prstGeom prst="roundRect">
              <a:avLst/>
            </a:prstGeom>
            <a:solidFill>
              <a:srgbClr val="DEF4E1"/>
            </a:solidFill>
          </p:spPr>
          <p:txBody>
            <a:bodyPr anchor="t" rtlCol="false"/>
            <a:lstStyle/>
            <a:p>
              <a:pPr algn="l">
                <a:defRPr/>
              </a:pPr>
              <a:r>
                <a:rPr lang="en-US" sz="2600"/>
                <a:t>結果を通知</a:t>
              </a:r>
              <a:endParaRPr lang="en-US" sz="1100"/>
            </a:p>
          </p:txBody>
        </p:sp>
        <p:cxnSp>
          <p:nvCxnSpPr>
            <p:cNvPr name="Connector 7" id="7"/>
            <p:cNvCxnSpPr/>
            <p:nvPr/>
          </p:nvCxnSpPr>
          <p:spPr>
            <a:xfrm>
              <a:off x="2667000" y="1524000"/>
              <a:ext cx="1270000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</p:cxnSp>
        <p:cxnSp>
          <p:nvCxnSpPr>
            <p:cNvPr name="Connector 8" id="8"/>
            <p:cNvCxnSpPr/>
            <p:nvPr/>
          </p:nvCxnSpPr>
          <p:spPr>
            <a:xfrm>
              <a:off x="6350000" y="1524000"/>
              <a:ext cx="1397000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</p:cxnSp>
      </p:grpSp>
      <p:sp>
        <p:nvSpPr>
          <p:cNvPr name="TextBox 9" id="9"/>
          <p:cNvSpPr txBox="true"/>
          <p:nvPr/>
        </p:nvSpPr>
        <p:spPr>
          <a:xfrm>
            <a:off x="698500" y="5334000"/>
            <a:ext cx="10922000" cy="914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100"/>
              <a:t>図形のラベルを本文から検索できます。線の関係は確定できた場合だけ記録します。</a:t>
            </a:r>
            <a:endParaRPr lang="ja-JP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508000" y="317500"/>
            <a:ext cx="11176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200"/>
              <a:t>非表示のスライドは出力しない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